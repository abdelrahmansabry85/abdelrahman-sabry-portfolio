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6256000" cy="9144000"/>
  <p:notesSz cx="9144000" cy="16256000"/>
  <p:embeddedFontLst>
    <p:embeddedFont>
      <p:font typeface="Liter" charset="-122" pitchFamily="34"/>
      <p:regular r:id="rId54"/>
    </p:embeddedFont>
    <p:embeddedFont>
      <p:font typeface="Quattrocento Sans" charset="-122" pitchFamily="34"/>
      <p:regular r:id="rId5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openxmlformats.org/officeDocument/2006/relationships/font" Target="fonts/font1.fntdata"/><Relationship Id="rId5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your-website-video-link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your-mobile-app-video-link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2D3EE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889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spc="8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29000"/>
            <a:ext cx="2032000" cy="50800"/>
          </a:xfrm>
          <a:prstGeom prst="rect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50800" dir="2700000">
              <a:srgbClr val="22d3ee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2000" y="3810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Medical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699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Comprehensive Healthcare Management Platform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461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2026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6223000"/>
            <a:ext cx="3556000" cy="5588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6223000"/>
            <a:ext cx="355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MADE SIMPLE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1778000"/>
            <a:ext cx="4826000" cy="5588000"/>
          </a:xfrm>
          <a:prstGeom prst="roundRect">
            <a:avLst>
              <a:gd name="adj" fmla="val 12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27000" y="3302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214114"/>
                </a:moveTo>
                <a:lnTo>
                  <a:pt x="478234" y="172839"/>
                </a:lnTo>
                <a:cubicBezTo>
                  <a:pt x="428625" y="104180"/>
                  <a:pt x="349052" y="63500"/>
                  <a:pt x="264120" y="63500"/>
                </a:cubicBezTo>
                <a:cubicBezTo>
                  <a:pt x="118269" y="63500"/>
                  <a:pt x="0" y="181769"/>
                  <a:pt x="0" y="327620"/>
                </a:cubicBezTo>
                <a:lnTo>
                  <a:pt x="0" y="332780"/>
                </a:lnTo>
                <a:cubicBezTo>
                  <a:pt x="0" y="379611"/>
                  <a:pt x="12303" y="428030"/>
                  <a:pt x="32941" y="476250"/>
                </a:cubicBezTo>
                <a:lnTo>
                  <a:pt x="243284" y="476250"/>
                </a:lnTo>
                <a:cubicBezTo>
                  <a:pt x="249634" y="476250"/>
                  <a:pt x="255389" y="472480"/>
                  <a:pt x="257969" y="466527"/>
                </a:cubicBezTo>
                <a:lnTo>
                  <a:pt x="321072" y="315119"/>
                </a:lnTo>
                <a:cubicBezTo>
                  <a:pt x="328414" y="297656"/>
                  <a:pt x="345480" y="286147"/>
                  <a:pt x="364331" y="285750"/>
                </a:cubicBezTo>
                <a:cubicBezTo>
                  <a:pt x="383183" y="285353"/>
                  <a:pt x="400645" y="296466"/>
                  <a:pt x="408384" y="313730"/>
                </a:cubicBezTo>
                <a:lnTo>
                  <a:pt x="510183" y="539750"/>
                </a:lnTo>
                <a:lnTo>
                  <a:pt x="592336" y="375444"/>
                </a:lnTo>
                <a:cubicBezTo>
                  <a:pt x="600472" y="359370"/>
                  <a:pt x="616942" y="349052"/>
                  <a:pt x="635000" y="349052"/>
                </a:cubicBezTo>
                <a:cubicBezTo>
                  <a:pt x="653058" y="349052"/>
                  <a:pt x="669528" y="359172"/>
                  <a:pt x="677664" y="375444"/>
                </a:cubicBezTo>
                <a:lnTo>
                  <a:pt x="723702" y="467320"/>
                </a:lnTo>
                <a:cubicBezTo>
                  <a:pt x="726480" y="472678"/>
                  <a:pt x="731838" y="476052"/>
                  <a:pt x="737989" y="476052"/>
                </a:cubicBezTo>
                <a:lnTo>
                  <a:pt x="983258" y="476052"/>
                </a:lnTo>
                <a:cubicBezTo>
                  <a:pt x="1004094" y="427831"/>
                  <a:pt x="1016198" y="379413"/>
                  <a:pt x="1016198" y="332581"/>
                </a:cubicBezTo>
                <a:lnTo>
                  <a:pt x="1016198" y="327422"/>
                </a:lnTo>
                <a:cubicBezTo>
                  <a:pt x="1016000" y="181769"/>
                  <a:pt x="897731" y="63500"/>
                  <a:pt x="751880" y="63500"/>
                </a:cubicBezTo>
                <a:cubicBezTo>
                  <a:pt x="667147" y="63500"/>
                  <a:pt x="587375" y="104180"/>
                  <a:pt x="537766" y="172839"/>
                </a:cubicBezTo>
                <a:lnTo>
                  <a:pt x="508000" y="213916"/>
                </a:lnTo>
                <a:close/>
                <a:moveTo>
                  <a:pt x="931863" y="571500"/>
                </a:moveTo>
                <a:lnTo>
                  <a:pt x="737791" y="571500"/>
                </a:lnTo>
                <a:cubicBezTo>
                  <a:pt x="695722" y="571500"/>
                  <a:pt x="657225" y="547688"/>
                  <a:pt x="638373" y="509984"/>
                </a:cubicBezTo>
                <a:lnTo>
                  <a:pt x="635000" y="503238"/>
                </a:lnTo>
                <a:lnTo>
                  <a:pt x="550664" y="672108"/>
                </a:lnTo>
                <a:cubicBezTo>
                  <a:pt x="542528" y="688578"/>
                  <a:pt x="525463" y="698897"/>
                  <a:pt x="507008" y="698500"/>
                </a:cubicBezTo>
                <a:cubicBezTo>
                  <a:pt x="488553" y="698103"/>
                  <a:pt x="472083" y="687189"/>
                  <a:pt x="464542" y="670520"/>
                </a:cubicBezTo>
                <a:lnTo>
                  <a:pt x="366713" y="453231"/>
                </a:lnTo>
                <a:lnTo>
                  <a:pt x="345877" y="503237"/>
                </a:lnTo>
                <a:cubicBezTo>
                  <a:pt x="328613" y="544711"/>
                  <a:pt x="288131" y="571698"/>
                  <a:pt x="243284" y="571698"/>
                </a:cubicBezTo>
                <a:lnTo>
                  <a:pt x="84138" y="571698"/>
                </a:lnTo>
                <a:cubicBezTo>
                  <a:pt x="177800" y="718145"/>
                  <a:pt x="328216" y="852884"/>
                  <a:pt x="422275" y="924719"/>
                </a:cubicBezTo>
                <a:cubicBezTo>
                  <a:pt x="446881" y="943372"/>
                  <a:pt x="477044" y="952698"/>
                  <a:pt x="507802" y="952698"/>
                </a:cubicBezTo>
                <a:cubicBezTo>
                  <a:pt x="538559" y="952698"/>
                  <a:pt x="568920" y="943570"/>
                  <a:pt x="593328" y="924719"/>
                </a:cubicBezTo>
                <a:cubicBezTo>
                  <a:pt x="687784" y="852686"/>
                  <a:pt x="838200" y="717947"/>
                  <a:pt x="931863" y="5715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0" y="469900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Healthcare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Management Platform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684000" y="2540000"/>
            <a:ext cx="101600" cy="101600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986000" y="4064000"/>
            <a:ext cx="76200" cy="76200"/>
          </a:xfrm>
          <a:prstGeom prst="ellipse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065000" y="6096000"/>
            <a:ext cx="127000" cy="127000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101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714500"/>
            <a:ext cx="1524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159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2349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11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3556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Vision, objectives, problem statement, methodology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45000" y="2159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9000" y="2349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99000" y="311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Works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99000" y="3556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transformation, existing systems, gaps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0" y="2159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2000" y="2349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11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Phase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82000" y="3556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Requirements, UML diagrams, system context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811000" y="2159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65000" y="2349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65000" y="3111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065000" y="3556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Architecture, DFD, database schema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5207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" y="5397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6159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Chatbot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16000" y="6604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objectives, architecture, features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45000" y="5207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9000" y="5397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99000" y="6159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99000" y="6604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Website and mobile application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28000" y="5207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2000" y="5397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2000" y="6159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382000" y="6604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Unit, integration, system, UAT testing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1811000" y="5207000"/>
            <a:ext cx="3429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65000" y="5397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065000" y="6159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2065000" y="66040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summary and future development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Project Foundation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 Strategic Direction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Vision, Objectives, Problem Statement,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 &amp; Technologies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Vision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7145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 is life's most important priority, yet managing medical needs remains challenging. Our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Online Medical System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transforms healthcare delivery through digital innovation.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6858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361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361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Patients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6000" y="40640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Easy appointment booking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Doctor selection by specialty &amp; rating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Medical history access anytime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524500"/>
            <a:ext cx="6858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715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5556"/>
                </a:move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lose/>
                <a:moveTo>
                  <a:pt x="197247" y="222806"/>
                </a:moveTo>
                <a:cubicBezTo>
                  <a:pt x="193496" y="222458"/>
                  <a:pt x="189607" y="222250"/>
                  <a:pt x="185718" y="222250"/>
                </a:cubicBezTo>
                <a:lnTo>
                  <a:pt x="125363" y="222250"/>
                </a:lnTo>
                <a:cubicBezTo>
                  <a:pt x="121474" y="222250"/>
                  <a:pt x="117654" y="222458"/>
                  <a:pt x="113834" y="222806"/>
                </a:cubicBezTo>
                <a:lnTo>
                  <a:pt x="113834" y="269686"/>
                </a:lnTo>
                <a:cubicBezTo>
                  <a:pt x="125293" y="274965"/>
                  <a:pt x="133281" y="286564"/>
                  <a:pt x="133281" y="299968"/>
                </a:cubicBezTo>
                <a:cubicBezTo>
                  <a:pt x="133281" y="318373"/>
                  <a:pt x="118348" y="333306"/>
                  <a:pt x="99943" y="333306"/>
                </a:cubicBezTo>
                <a:cubicBezTo>
                  <a:pt x="81538" y="333306"/>
                  <a:pt x="66606" y="318373"/>
                  <a:pt x="66606" y="299968"/>
                </a:cubicBezTo>
                <a:cubicBezTo>
                  <a:pt x="66606" y="286494"/>
                  <a:pt x="74593" y="274895"/>
                  <a:pt x="86052" y="269686"/>
                </a:cubicBezTo>
                <a:lnTo>
                  <a:pt x="86052" y="229126"/>
                </a:lnTo>
                <a:cubicBezTo>
                  <a:pt x="42366" y="245170"/>
                  <a:pt x="11112" y="287258"/>
                  <a:pt x="11112" y="336570"/>
                </a:cubicBezTo>
                <a:cubicBezTo>
                  <a:pt x="11112" y="347057"/>
                  <a:pt x="19655" y="355600"/>
                  <a:pt x="30143" y="355600"/>
                </a:cubicBezTo>
                <a:lnTo>
                  <a:pt x="280938" y="355600"/>
                </a:lnTo>
                <a:cubicBezTo>
                  <a:pt x="291425" y="355600"/>
                  <a:pt x="299968" y="347057"/>
                  <a:pt x="299968" y="336570"/>
                </a:cubicBezTo>
                <a:cubicBezTo>
                  <a:pt x="299968" y="287258"/>
                  <a:pt x="268714" y="245239"/>
                  <a:pt x="224959" y="229195"/>
                </a:cubicBezTo>
                <a:lnTo>
                  <a:pt x="224959" y="255171"/>
                </a:lnTo>
                <a:cubicBezTo>
                  <a:pt x="241141" y="260866"/>
                  <a:pt x="252740" y="276354"/>
                  <a:pt x="252740" y="294481"/>
                </a:cubicBezTo>
                <a:lnTo>
                  <a:pt x="252740" y="316706"/>
                </a:lnTo>
                <a:cubicBezTo>
                  <a:pt x="252740" y="324346"/>
                  <a:pt x="246489" y="330597"/>
                  <a:pt x="238849" y="330597"/>
                </a:cubicBezTo>
                <a:cubicBezTo>
                  <a:pt x="231209" y="330597"/>
                  <a:pt x="224959" y="324346"/>
                  <a:pt x="224959" y="316706"/>
                </a:cubicBezTo>
                <a:lnTo>
                  <a:pt x="224959" y="294481"/>
                </a:lnTo>
                <a:cubicBezTo>
                  <a:pt x="224959" y="286841"/>
                  <a:pt x="218708" y="280591"/>
                  <a:pt x="211068" y="280591"/>
                </a:cubicBezTo>
                <a:cubicBezTo>
                  <a:pt x="203428" y="280591"/>
                  <a:pt x="197177" y="286841"/>
                  <a:pt x="197177" y="294481"/>
                </a:cubicBezTo>
                <a:lnTo>
                  <a:pt x="197177" y="316706"/>
                </a:lnTo>
                <a:cubicBezTo>
                  <a:pt x="197177" y="324346"/>
                  <a:pt x="190927" y="330597"/>
                  <a:pt x="183287" y="330597"/>
                </a:cubicBezTo>
                <a:cubicBezTo>
                  <a:pt x="175647" y="330597"/>
                  <a:pt x="169396" y="324346"/>
                  <a:pt x="169396" y="316706"/>
                </a:cubicBezTo>
                <a:lnTo>
                  <a:pt x="169396" y="294481"/>
                </a:lnTo>
                <a:cubicBezTo>
                  <a:pt x="169396" y="276354"/>
                  <a:pt x="180995" y="260935"/>
                  <a:pt x="197177" y="255171"/>
                </a:cubicBezTo>
                <a:lnTo>
                  <a:pt x="197177" y="22280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571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Doctors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6000" y="61595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Schedule management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Patient communication tools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B82F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Electronic prescription tools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28000" y="1714500"/>
            <a:ext cx="7366000" cy="571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6000" y="196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36000" y="2387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 &amp; Mobile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446000" y="196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446000" y="2387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Portal &amp; App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98000" y="2794000"/>
            <a:ext cx="4318000" cy="0"/>
          </a:xfrm>
          <a:prstGeom prst="straightConnector1">
            <a:avLst/>
          </a:prstGeom>
          <a:noFill/>
          <a:ln w="12700">
            <a:solidFill>
              <a:srgbClr val="22D3EE"/>
            </a:solidFill>
            <a:prstDash val="sysDot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169400" y="3111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319326" y="406400"/>
                </a:lnTo>
                <a:cubicBezTo>
                  <a:pt x="332343" y="406400"/>
                  <a:pt x="342900" y="395843"/>
                  <a:pt x="342900" y="382826"/>
                </a:cubicBezTo>
                <a:cubicBezTo>
                  <a:pt x="342900" y="304641"/>
                  <a:pt x="279559" y="241300"/>
                  <a:pt x="201374" y="241300"/>
                </a:cubicBezTo>
                <a:lnTo>
                  <a:pt x="154226" y="2413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18900" y="3111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152400" y="76200"/>
                </a:moveTo>
                <a:cubicBezTo>
                  <a:pt x="152400" y="34171"/>
                  <a:pt x="186571" y="0"/>
                  <a:pt x="228600" y="0"/>
                </a:cubicBezTo>
                <a:lnTo>
                  <a:pt x="457200" y="0"/>
                </a:lnTo>
                <a:cubicBezTo>
                  <a:pt x="499229" y="0"/>
                  <a:pt x="533400" y="34171"/>
                  <a:pt x="533400" y="76200"/>
                </a:cubicBezTo>
                <a:lnTo>
                  <a:pt x="533400" y="152400"/>
                </a:lnTo>
                <a:lnTo>
                  <a:pt x="609600" y="152400"/>
                </a:lnTo>
                <a:cubicBezTo>
                  <a:pt x="651629" y="152400"/>
                  <a:pt x="685800" y="186571"/>
                  <a:pt x="685800" y="228600"/>
                </a:cubicBezTo>
                <a:lnTo>
                  <a:pt x="685800" y="533400"/>
                </a:lnTo>
                <a:cubicBezTo>
                  <a:pt x="685800" y="575429"/>
                  <a:pt x="651629" y="609600"/>
                  <a:pt x="6096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228600"/>
                </a:lnTo>
                <a:cubicBezTo>
                  <a:pt x="0" y="186571"/>
                  <a:pt x="34171" y="152400"/>
                  <a:pt x="76200" y="152400"/>
                </a:cubicBezTo>
                <a:lnTo>
                  <a:pt x="152400" y="152400"/>
                </a:lnTo>
                <a:lnTo>
                  <a:pt x="152400" y="76200"/>
                </a:lnTo>
                <a:close/>
                <a:moveTo>
                  <a:pt x="323850" y="419100"/>
                </a:moveTo>
                <a:cubicBezTo>
                  <a:pt x="302776" y="419100"/>
                  <a:pt x="285750" y="436126"/>
                  <a:pt x="285750" y="457200"/>
                </a:cubicBezTo>
                <a:lnTo>
                  <a:pt x="285750" y="552450"/>
                </a:lnTo>
                <a:lnTo>
                  <a:pt x="400050" y="552450"/>
                </a:lnTo>
                <a:lnTo>
                  <a:pt x="400050" y="457200"/>
                </a:lnTo>
                <a:cubicBezTo>
                  <a:pt x="400050" y="436126"/>
                  <a:pt x="383024" y="419100"/>
                  <a:pt x="361950" y="419100"/>
                </a:cubicBezTo>
                <a:lnTo>
                  <a:pt x="323850" y="419100"/>
                </a:lnTo>
                <a:close/>
                <a:moveTo>
                  <a:pt x="152400" y="438150"/>
                </a:moveTo>
                <a:lnTo>
                  <a:pt x="152400" y="400050"/>
                </a:lnTo>
                <a:cubicBezTo>
                  <a:pt x="152400" y="389573"/>
                  <a:pt x="143828" y="381000"/>
                  <a:pt x="133350" y="381000"/>
                </a:cubicBezTo>
                <a:lnTo>
                  <a:pt x="95250" y="381000"/>
                </a:lnTo>
                <a:cubicBezTo>
                  <a:pt x="84773" y="381000"/>
                  <a:pt x="76200" y="389573"/>
                  <a:pt x="76200" y="400050"/>
                </a:cubicBezTo>
                <a:lnTo>
                  <a:pt x="76200" y="438150"/>
                </a:lnTo>
                <a:cubicBezTo>
                  <a:pt x="76200" y="448628"/>
                  <a:pt x="84773" y="457200"/>
                  <a:pt x="95250" y="457200"/>
                </a:cubicBezTo>
                <a:lnTo>
                  <a:pt x="133350" y="457200"/>
                </a:lnTo>
                <a:cubicBezTo>
                  <a:pt x="143828" y="457200"/>
                  <a:pt x="152400" y="448628"/>
                  <a:pt x="152400" y="438150"/>
                </a:cubicBezTo>
                <a:close/>
                <a:moveTo>
                  <a:pt x="133350" y="304800"/>
                </a:moveTo>
                <a:cubicBezTo>
                  <a:pt x="143828" y="304800"/>
                  <a:pt x="152400" y="296228"/>
                  <a:pt x="152400" y="285750"/>
                </a:cubicBezTo>
                <a:lnTo>
                  <a:pt x="152400" y="247650"/>
                </a:lnTo>
                <a:cubicBezTo>
                  <a:pt x="152400" y="237173"/>
                  <a:pt x="143828" y="228600"/>
                  <a:pt x="133350" y="228600"/>
                </a:cubicBezTo>
                <a:lnTo>
                  <a:pt x="95250" y="228600"/>
                </a:lnTo>
                <a:cubicBezTo>
                  <a:pt x="84773" y="228600"/>
                  <a:pt x="76200" y="237173"/>
                  <a:pt x="76200" y="247650"/>
                </a:cubicBezTo>
                <a:lnTo>
                  <a:pt x="76200" y="285750"/>
                </a:lnTo>
                <a:cubicBezTo>
                  <a:pt x="76200" y="296228"/>
                  <a:pt x="84773" y="304800"/>
                  <a:pt x="95250" y="304800"/>
                </a:cubicBezTo>
                <a:lnTo>
                  <a:pt x="133350" y="304800"/>
                </a:lnTo>
                <a:close/>
                <a:moveTo>
                  <a:pt x="609600" y="438150"/>
                </a:moveTo>
                <a:lnTo>
                  <a:pt x="609600" y="400050"/>
                </a:lnTo>
                <a:cubicBezTo>
                  <a:pt x="609600" y="389573"/>
                  <a:pt x="601028" y="381000"/>
                  <a:pt x="590550" y="381000"/>
                </a:cubicBezTo>
                <a:lnTo>
                  <a:pt x="552450" y="381000"/>
                </a:lnTo>
                <a:cubicBezTo>
                  <a:pt x="541973" y="381000"/>
                  <a:pt x="533400" y="389573"/>
                  <a:pt x="533400" y="400050"/>
                </a:cubicBezTo>
                <a:lnTo>
                  <a:pt x="533400" y="438150"/>
                </a:lnTo>
                <a:cubicBezTo>
                  <a:pt x="533400" y="448628"/>
                  <a:pt x="541973" y="457200"/>
                  <a:pt x="552450" y="457200"/>
                </a:cubicBezTo>
                <a:lnTo>
                  <a:pt x="590550" y="457200"/>
                </a:lnTo>
                <a:cubicBezTo>
                  <a:pt x="601028" y="457200"/>
                  <a:pt x="609600" y="448628"/>
                  <a:pt x="609600" y="438150"/>
                </a:cubicBezTo>
                <a:close/>
                <a:moveTo>
                  <a:pt x="590550" y="304800"/>
                </a:moveTo>
                <a:cubicBezTo>
                  <a:pt x="601028" y="304800"/>
                  <a:pt x="609600" y="296228"/>
                  <a:pt x="609600" y="285750"/>
                </a:cubicBezTo>
                <a:lnTo>
                  <a:pt x="609600" y="247650"/>
                </a:lnTo>
                <a:cubicBezTo>
                  <a:pt x="609600" y="237173"/>
                  <a:pt x="601028" y="228600"/>
                  <a:pt x="590550" y="228600"/>
                </a:cubicBezTo>
                <a:lnTo>
                  <a:pt x="552450" y="228600"/>
                </a:lnTo>
                <a:cubicBezTo>
                  <a:pt x="541973" y="228600"/>
                  <a:pt x="533400" y="237173"/>
                  <a:pt x="533400" y="247650"/>
                </a:cubicBezTo>
                <a:lnTo>
                  <a:pt x="533400" y="285750"/>
                </a:lnTo>
                <a:cubicBezTo>
                  <a:pt x="533400" y="296228"/>
                  <a:pt x="541973" y="304800"/>
                  <a:pt x="552450" y="304800"/>
                </a:cubicBezTo>
                <a:lnTo>
                  <a:pt x="590550" y="304800"/>
                </a:lnTo>
                <a:close/>
                <a:moveTo>
                  <a:pt x="314325" y="123825"/>
                </a:moveTo>
                <a:lnTo>
                  <a:pt x="314325" y="161925"/>
                </a:lnTo>
                <a:lnTo>
                  <a:pt x="276225" y="161925"/>
                </a:lnTo>
                <a:cubicBezTo>
                  <a:pt x="265747" y="161925"/>
                  <a:pt x="257175" y="170497"/>
                  <a:pt x="257175" y="180975"/>
                </a:cubicBezTo>
                <a:lnTo>
                  <a:pt x="257175" y="200025"/>
                </a:lnTo>
                <a:cubicBezTo>
                  <a:pt x="257175" y="210503"/>
                  <a:pt x="265747" y="219075"/>
                  <a:pt x="276225" y="219075"/>
                </a:cubicBezTo>
                <a:lnTo>
                  <a:pt x="314325" y="219075"/>
                </a:lnTo>
                <a:lnTo>
                  <a:pt x="314325" y="257175"/>
                </a:lnTo>
                <a:cubicBezTo>
                  <a:pt x="314325" y="267653"/>
                  <a:pt x="322898" y="276225"/>
                  <a:pt x="333375" y="276225"/>
                </a:cubicBezTo>
                <a:lnTo>
                  <a:pt x="352425" y="276225"/>
                </a:lnTo>
                <a:cubicBezTo>
                  <a:pt x="362903" y="276225"/>
                  <a:pt x="371475" y="267653"/>
                  <a:pt x="371475" y="257175"/>
                </a:cubicBezTo>
                <a:lnTo>
                  <a:pt x="371475" y="219075"/>
                </a:lnTo>
                <a:lnTo>
                  <a:pt x="409575" y="219075"/>
                </a:lnTo>
                <a:cubicBezTo>
                  <a:pt x="420053" y="219075"/>
                  <a:pt x="428625" y="210503"/>
                  <a:pt x="428625" y="200025"/>
                </a:cubicBezTo>
                <a:lnTo>
                  <a:pt x="428625" y="180975"/>
                </a:lnTo>
                <a:cubicBezTo>
                  <a:pt x="428625" y="170497"/>
                  <a:pt x="420053" y="161925"/>
                  <a:pt x="409575" y="161925"/>
                </a:cubicBezTo>
                <a:lnTo>
                  <a:pt x="371475" y="161925"/>
                </a:lnTo>
                <a:lnTo>
                  <a:pt x="371475" y="123825"/>
                </a:lnTo>
                <a:cubicBezTo>
                  <a:pt x="371475" y="113348"/>
                  <a:pt x="362903" y="104775"/>
                  <a:pt x="352425" y="104775"/>
                </a:cubicBezTo>
                <a:lnTo>
                  <a:pt x="333375" y="104775"/>
                </a:lnTo>
                <a:cubicBezTo>
                  <a:pt x="322898" y="104775"/>
                  <a:pt x="314325" y="113348"/>
                  <a:pt x="314325" y="12382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376400" y="3111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6350"/>
                </a:move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lose/>
                <a:moveTo>
                  <a:pt x="225425" y="254635"/>
                </a:moveTo>
                <a:cubicBezTo>
                  <a:pt x="221139" y="254238"/>
                  <a:pt x="216694" y="254000"/>
                  <a:pt x="212249" y="254000"/>
                </a:cubicBezTo>
                <a:lnTo>
                  <a:pt x="143272" y="254000"/>
                </a:lnTo>
                <a:cubicBezTo>
                  <a:pt x="138827" y="254000"/>
                  <a:pt x="134461" y="254238"/>
                  <a:pt x="130096" y="254635"/>
                </a:cubicBezTo>
                <a:lnTo>
                  <a:pt x="130096" y="308213"/>
                </a:lnTo>
                <a:cubicBezTo>
                  <a:pt x="143192" y="314246"/>
                  <a:pt x="152321" y="327501"/>
                  <a:pt x="152321" y="342821"/>
                </a:cubicBezTo>
                <a:cubicBezTo>
                  <a:pt x="152321" y="363855"/>
                  <a:pt x="135255" y="380921"/>
                  <a:pt x="114221" y="380921"/>
                </a:cubicBezTo>
                <a:cubicBezTo>
                  <a:pt x="93186" y="380921"/>
                  <a:pt x="76121" y="363855"/>
                  <a:pt x="76121" y="342821"/>
                </a:cubicBezTo>
                <a:cubicBezTo>
                  <a:pt x="76121" y="327422"/>
                  <a:pt x="85249" y="314166"/>
                  <a:pt x="98346" y="308213"/>
                </a:cubicBezTo>
                <a:lnTo>
                  <a:pt x="98346" y="261858"/>
                </a:lnTo>
                <a:cubicBezTo>
                  <a:pt x="48419" y="280194"/>
                  <a:pt x="12700" y="328295"/>
                  <a:pt x="12700" y="384651"/>
                </a:cubicBezTo>
                <a:cubicBezTo>
                  <a:pt x="12700" y="396637"/>
                  <a:pt x="22463" y="406400"/>
                  <a:pt x="34449" y="406400"/>
                </a:cubicBezTo>
                <a:lnTo>
                  <a:pt x="321072" y="406400"/>
                </a:lnTo>
                <a:cubicBezTo>
                  <a:pt x="333058" y="406400"/>
                  <a:pt x="342821" y="396637"/>
                  <a:pt x="342821" y="384651"/>
                </a:cubicBezTo>
                <a:cubicBezTo>
                  <a:pt x="342821" y="328295"/>
                  <a:pt x="307102" y="280273"/>
                  <a:pt x="257096" y="261937"/>
                </a:cubicBezTo>
                <a:lnTo>
                  <a:pt x="257096" y="291624"/>
                </a:lnTo>
                <a:cubicBezTo>
                  <a:pt x="275590" y="298132"/>
                  <a:pt x="288846" y="315833"/>
                  <a:pt x="288846" y="336550"/>
                </a:cubicBezTo>
                <a:lnTo>
                  <a:pt x="288846" y="361950"/>
                </a:lnTo>
                <a:cubicBezTo>
                  <a:pt x="288846" y="370681"/>
                  <a:pt x="281702" y="377825"/>
                  <a:pt x="272971" y="377825"/>
                </a:cubicBezTo>
                <a:cubicBezTo>
                  <a:pt x="264239" y="377825"/>
                  <a:pt x="257096" y="370681"/>
                  <a:pt x="257096" y="361950"/>
                </a:cubicBezTo>
                <a:lnTo>
                  <a:pt x="257096" y="336550"/>
                </a:lnTo>
                <a:cubicBezTo>
                  <a:pt x="257096" y="327819"/>
                  <a:pt x="249952" y="320675"/>
                  <a:pt x="241221" y="320675"/>
                </a:cubicBezTo>
                <a:cubicBezTo>
                  <a:pt x="232489" y="320675"/>
                  <a:pt x="225346" y="327819"/>
                  <a:pt x="225346" y="336550"/>
                </a:cubicBezTo>
                <a:lnTo>
                  <a:pt x="225346" y="361950"/>
                </a:lnTo>
                <a:cubicBezTo>
                  <a:pt x="225346" y="370681"/>
                  <a:pt x="218202" y="377825"/>
                  <a:pt x="209471" y="377825"/>
                </a:cubicBezTo>
                <a:cubicBezTo>
                  <a:pt x="200739" y="377825"/>
                  <a:pt x="193596" y="370681"/>
                  <a:pt x="193596" y="361950"/>
                </a:cubicBezTo>
                <a:lnTo>
                  <a:pt x="193596" y="336550"/>
                </a:lnTo>
                <a:cubicBezTo>
                  <a:pt x="193596" y="315833"/>
                  <a:pt x="206851" y="298212"/>
                  <a:pt x="225346" y="291624"/>
                </a:cubicBezTo>
                <a:lnTo>
                  <a:pt x="225346" y="25463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 PLATFORM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0" y="5588000"/>
            <a:ext cx="12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Savings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582400" y="5080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11049000" y="5588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Organized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Records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3995400" y="5080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84150" y="-25400"/>
                </a:moveTo>
                <a:cubicBezTo>
                  <a:pt x="208683" y="-25400"/>
                  <a:pt x="228600" y="-5483"/>
                  <a:pt x="228600" y="19050"/>
                </a:cubicBezTo>
                <a:cubicBezTo>
                  <a:pt x="228600" y="43583"/>
                  <a:pt x="208683" y="63500"/>
                  <a:pt x="184150" y="63500"/>
                </a:cubicBezTo>
                <a:cubicBezTo>
                  <a:pt x="159617" y="63500"/>
                  <a:pt x="139700" y="43583"/>
                  <a:pt x="139700" y="19050"/>
                </a:cubicBezTo>
                <a:cubicBezTo>
                  <a:pt x="139700" y="-5483"/>
                  <a:pt x="159617" y="-25400"/>
                  <a:pt x="184150" y="-25400"/>
                </a:cubicBezTo>
                <a:close/>
                <a:moveTo>
                  <a:pt x="114300" y="187881"/>
                </a:moveTo>
                <a:lnTo>
                  <a:pt x="77549" y="237411"/>
                </a:lnTo>
                <a:cubicBezTo>
                  <a:pt x="69215" y="248682"/>
                  <a:pt x="53261" y="251063"/>
                  <a:pt x="41989" y="242649"/>
                </a:cubicBezTo>
                <a:cubicBezTo>
                  <a:pt x="30718" y="234236"/>
                  <a:pt x="28337" y="218361"/>
                  <a:pt x="36751" y="207089"/>
                </a:cubicBezTo>
                <a:lnTo>
                  <a:pt x="92710" y="131683"/>
                </a:lnTo>
                <a:cubicBezTo>
                  <a:pt x="112713" y="104775"/>
                  <a:pt x="144224" y="88900"/>
                  <a:pt x="177800" y="88900"/>
                </a:cubicBezTo>
                <a:cubicBezTo>
                  <a:pt x="211376" y="88900"/>
                  <a:pt x="242888" y="104775"/>
                  <a:pt x="262890" y="131683"/>
                </a:cubicBezTo>
                <a:lnTo>
                  <a:pt x="318849" y="207089"/>
                </a:lnTo>
                <a:cubicBezTo>
                  <a:pt x="327184" y="218361"/>
                  <a:pt x="324882" y="234236"/>
                  <a:pt x="313611" y="242649"/>
                </a:cubicBezTo>
                <a:cubicBezTo>
                  <a:pt x="302339" y="251063"/>
                  <a:pt x="286464" y="248682"/>
                  <a:pt x="278051" y="237411"/>
                </a:cubicBezTo>
                <a:lnTo>
                  <a:pt x="241300" y="187881"/>
                </a:lnTo>
                <a:lnTo>
                  <a:pt x="241300" y="406400"/>
                </a:lnTo>
                <a:cubicBezTo>
                  <a:pt x="241300" y="420449"/>
                  <a:pt x="229949" y="431800"/>
                  <a:pt x="215900" y="431800"/>
                </a:cubicBezTo>
                <a:cubicBezTo>
                  <a:pt x="201851" y="431800"/>
                  <a:pt x="190500" y="420449"/>
                  <a:pt x="190500" y="406400"/>
                </a:cubicBezTo>
                <a:lnTo>
                  <a:pt x="190500" y="279400"/>
                </a:lnTo>
                <a:cubicBezTo>
                  <a:pt x="190500" y="272415"/>
                  <a:pt x="184785" y="266700"/>
                  <a:pt x="177800" y="266700"/>
                </a:cubicBezTo>
                <a:cubicBezTo>
                  <a:pt x="170815" y="266700"/>
                  <a:pt x="165100" y="272415"/>
                  <a:pt x="165100" y="279400"/>
                </a:cubicBezTo>
                <a:lnTo>
                  <a:pt x="165100" y="406400"/>
                </a:lnTo>
                <a:cubicBezTo>
                  <a:pt x="165100" y="420449"/>
                  <a:pt x="153749" y="431800"/>
                  <a:pt x="139700" y="431800"/>
                </a:cubicBezTo>
                <a:cubicBezTo>
                  <a:pt x="125651" y="431800"/>
                  <a:pt x="114300" y="420449"/>
                  <a:pt x="114300" y="406400"/>
                </a:cubicBezTo>
                <a:lnTo>
                  <a:pt x="114300" y="187881"/>
                </a:lnTo>
                <a:close/>
                <a:moveTo>
                  <a:pt x="311150" y="304800"/>
                </a:moveTo>
                <a:cubicBezTo>
                  <a:pt x="307658" y="304800"/>
                  <a:pt x="304800" y="307658"/>
                  <a:pt x="304800" y="311150"/>
                </a:cubicBezTo>
                <a:cubicBezTo>
                  <a:pt x="304800" y="321707"/>
                  <a:pt x="296307" y="330200"/>
                  <a:pt x="285750" y="330200"/>
                </a:cubicBezTo>
                <a:cubicBezTo>
                  <a:pt x="275193" y="330200"/>
                  <a:pt x="266700" y="321707"/>
                  <a:pt x="266700" y="311150"/>
                </a:cubicBezTo>
                <a:cubicBezTo>
                  <a:pt x="266700" y="286623"/>
                  <a:pt x="286623" y="266700"/>
                  <a:pt x="311150" y="266700"/>
                </a:cubicBezTo>
                <a:cubicBezTo>
                  <a:pt x="335677" y="266700"/>
                  <a:pt x="355600" y="286623"/>
                  <a:pt x="355600" y="311150"/>
                </a:cubicBezTo>
                <a:lnTo>
                  <a:pt x="355600" y="412750"/>
                </a:lnTo>
                <a:cubicBezTo>
                  <a:pt x="355600" y="423307"/>
                  <a:pt x="347107" y="431800"/>
                  <a:pt x="336550" y="431800"/>
                </a:cubicBezTo>
                <a:cubicBezTo>
                  <a:pt x="325993" y="431800"/>
                  <a:pt x="317500" y="423307"/>
                  <a:pt x="317500" y="412750"/>
                </a:cubicBezTo>
                <a:lnTo>
                  <a:pt x="317500" y="311150"/>
                </a:lnTo>
                <a:cubicBezTo>
                  <a:pt x="317500" y="307658"/>
                  <a:pt x="314643" y="304800"/>
                  <a:pt x="311150" y="3048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3462000" y="5588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Elderly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Accessible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key goals driving our healthcare innovation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241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11150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6000" y="3606800"/>
            <a:ext cx="406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Replace manual clinic management with an automated digital system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88000" y="22225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42000" y="241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3111500"/>
            <a:ext cx="406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42000" y="3606800"/>
            <a:ext cx="406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 time, cost, and effort required for all healthcare processes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14000" y="2222500"/>
            <a:ext cx="5080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68000" y="241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0" y="3111500"/>
            <a:ext cx="457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2000" y="50800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" y="5270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969000"/>
            <a:ext cx="660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Choice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16000" y="6464300"/>
            <a:ext cx="6604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 patients to choose doctors based on cost and rating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28000" y="5080000"/>
            <a:ext cx="7366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2000" y="52705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2000" y="5969000"/>
            <a:ext cx="685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Inclusivity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82000" y="6464300"/>
            <a:ext cx="6858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 all age groups, especially elderly patients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8001000"/>
            <a:ext cx="14732000" cy="508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8001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Mission: Making healthcare accessible, efficient, and user-friendly for everyone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8382000" cy="6731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19050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IN TRADITIONAL HEALTHCARE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35050" y="2476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24511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 Issues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47800" y="2895600"/>
            <a:ext cx="736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loss risks, redundancy, and difficult retrieval processes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6000" y="330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32766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Gap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47800" y="3721100"/>
            <a:ext cx="736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Patients lack info about nearby clinics, services, and doctors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35050" y="4127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173772" y="131028"/>
                </a:moveTo>
                <a:cubicBezTo>
                  <a:pt x="168176" y="125432"/>
                  <a:pt x="159127" y="125432"/>
                  <a:pt x="153591" y="131028"/>
                </a:cubicBezTo>
                <a:lnTo>
                  <a:pt x="133410" y="151209"/>
                </a:lnTo>
                <a:lnTo>
                  <a:pt x="113228" y="131028"/>
                </a:lnTo>
                <a:cubicBezTo>
                  <a:pt x="107633" y="125432"/>
                  <a:pt x="98584" y="125432"/>
                  <a:pt x="93047" y="131028"/>
                </a:cubicBezTo>
                <a:cubicBezTo>
                  <a:pt x="87511" y="136624"/>
                  <a:pt x="87451" y="145673"/>
                  <a:pt x="93047" y="151209"/>
                </a:cubicBezTo>
                <a:lnTo>
                  <a:pt x="113228" y="171390"/>
                </a:lnTo>
                <a:lnTo>
                  <a:pt x="93047" y="191572"/>
                </a:lnTo>
                <a:cubicBezTo>
                  <a:pt x="87451" y="197167"/>
                  <a:pt x="87451" y="206216"/>
                  <a:pt x="93047" y="211753"/>
                </a:cubicBezTo>
                <a:cubicBezTo>
                  <a:pt x="98643" y="217289"/>
                  <a:pt x="107692" y="217349"/>
                  <a:pt x="113228" y="211753"/>
                </a:cubicBezTo>
                <a:lnTo>
                  <a:pt x="133410" y="191572"/>
                </a:lnTo>
                <a:lnTo>
                  <a:pt x="153591" y="211753"/>
                </a:lnTo>
                <a:cubicBezTo>
                  <a:pt x="159187" y="217349"/>
                  <a:pt x="168235" y="217349"/>
                  <a:pt x="173772" y="211753"/>
                </a:cubicBezTo>
                <a:cubicBezTo>
                  <a:pt x="179308" y="206157"/>
                  <a:pt x="179368" y="197108"/>
                  <a:pt x="173772" y="191572"/>
                </a:cubicBezTo>
                <a:lnTo>
                  <a:pt x="153591" y="171390"/>
                </a:lnTo>
                <a:lnTo>
                  <a:pt x="173772" y="151209"/>
                </a:lnTo>
                <a:cubicBezTo>
                  <a:pt x="179368" y="145613"/>
                  <a:pt x="179368" y="136565"/>
                  <a:pt x="173772" y="13102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447800" y="41021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 Inefficiency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47800" y="4546600"/>
            <a:ext cx="736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Manual appointment booking wastes time and causes delays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60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49276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Challenges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47800" y="5372100"/>
            <a:ext cx="736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Elderly patients struggle to remember medication and appointments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16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" y="57531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Fragmentation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47800" y="6197600"/>
            <a:ext cx="736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integrated system for organizing medical records smoothly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0" y="1714500"/>
            <a:ext cx="5969000" cy="6731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71375" y="22860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363265" y="476250"/>
                </a:moveTo>
                <a:cubicBezTo>
                  <a:pt x="372318" y="448593"/>
                  <a:pt x="390426" y="423540"/>
                  <a:pt x="410890" y="401960"/>
                </a:cubicBezTo>
                <a:cubicBezTo>
                  <a:pt x="451445" y="359296"/>
                  <a:pt x="476250" y="301625"/>
                  <a:pt x="476250" y="238125"/>
                </a:cubicBezTo>
                <a:cubicBezTo>
                  <a:pt x="476250" y="106660"/>
                  <a:pt x="369590" y="0"/>
                  <a:pt x="238125" y="0"/>
                </a:cubicBezTo>
                <a:cubicBezTo>
                  <a:pt x="106660" y="0"/>
                  <a:pt x="0" y="106660"/>
                  <a:pt x="0" y="238125"/>
                </a:cubicBezTo>
                <a:cubicBezTo>
                  <a:pt x="0" y="301625"/>
                  <a:pt x="24805" y="359296"/>
                  <a:pt x="65360" y="401960"/>
                </a:cubicBezTo>
                <a:cubicBezTo>
                  <a:pt x="85824" y="423540"/>
                  <a:pt x="104056" y="448593"/>
                  <a:pt x="112985" y="476250"/>
                </a:cubicBezTo>
                <a:lnTo>
                  <a:pt x="363141" y="476250"/>
                </a:lnTo>
                <a:close/>
                <a:moveTo>
                  <a:pt x="357188" y="535781"/>
                </a:moveTo>
                <a:lnTo>
                  <a:pt x="119062" y="535781"/>
                </a:lnTo>
                <a:lnTo>
                  <a:pt x="119062" y="555625"/>
                </a:lnTo>
                <a:cubicBezTo>
                  <a:pt x="119062" y="610443"/>
                  <a:pt x="163463" y="654844"/>
                  <a:pt x="218281" y="654844"/>
                </a:cubicBezTo>
                <a:lnTo>
                  <a:pt x="257969" y="654844"/>
                </a:lnTo>
                <a:cubicBezTo>
                  <a:pt x="312787" y="654844"/>
                  <a:pt x="357188" y="610443"/>
                  <a:pt x="357188" y="555625"/>
                </a:cubicBezTo>
                <a:lnTo>
                  <a:pt x="357188" y="535781"/>
                </a:lnTo>
                <a:close/>
                <a:moveTo>
                  <a:pt x="228203" y="138906"/>
                </a:moveTo>
                <a:cubicBezTo>
                  <a:pt x="178842" y="138906"/>
                  <a:pt x="138906" y="178842"/>
                  <a:pt x="138906" y="228203"/>
                </a:cubicBezTo>
                <a:cubicBezTo>
                  <a:pt x="138906" y="244698"/>
                  <a:pt x="125636" y="257969"/>
                  <a:pt x="109141" y="257969"/>
                </a:cubicBezTo>
                <a:cubicBezTo>
                  <a:pt x="92646" y="257969"/>
                  <a:pt x="79375" y="244698"/>
                  <a:pt x="79375" y="228203"/>
                </a:cubicBezTo>
                <a:cubicBezTo>
                  <a:pt x="79375" y="145976"/>
                  <a:pt x="145976" y="79375"/>
                  <a:pt x="228203" y="79375"/>
                </a:cubicBezTo>
                <a:cubicBezTo>
                  <a:pt x="244698" y="79375"/>
                  <a:pt x="257969" y="92646"/>
                  <a:pt x="257969" y="109141"/>
                </a:cubicBezTo>
                <a:cubicBezTo>
                  <a:pt x="257969" y="125636"/>
                  <a:pt x="244698" y="138906"/>
                  <a:pt x="228203" y="13890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0" y="3175000"/>
            <a:ext cx="469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30000" y="3746500"/>
            <a:ext cx="2159000" cy="25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33000" y="4064000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comprehensive digital platform that addresses all challenges through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541000" y="5842000"/>
            <a:ext cx="1905000" cy="5080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41000" y="58420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700000" y="5842000"/>
            <a:ext cx="2032000" cy="5080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12700000" y="5842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303000" y="6604000"/>
            <a:ext cx="2540000" cy="5080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11303000" y="6604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 Development Methodology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spc="1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Agile Methodology?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28448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&amp; Incremental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6000" y="32512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Building in small sprints (2–4 weeks)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22225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1550" y="2413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4826000" y="28448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Customer-Centric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6000" y="325120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Delivering value to users early and often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4064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3775" y="4254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6863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Feedback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16000" y="509270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Testing and reviewing after every sprint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4064000"/>
            <a:ext cx="3556000" cy="165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6000" y="425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452" y="23892"/>
                </a:moveTo>
                <a:cubicBezTo>
                  <a:pt x="288786" y="20419"/>
                  <a:pt x="298301" y="22364"/>
                  <a:pt x="304691" y="28684"/>
                </a:cubicBezTo>
                <a:lnTo>
                  <a:pt x="349141" y="73134"/>
                </a:lnTo>
                <a:cubicBezTo>
                  <a:pt x="353308" y="77301"/>
                  <a:pt x="355669" y="82927"/>
                  <a:pt x="355669" y="88831"/>
                </a:cubicBezTo>
                <a:cubicBezTo>
                  <a:pt x="355669" y="94734"/>
                  <a:pt x="353308" y="100360"/>
                  <a:pt x="349141" y="104527"/>
                </a:cubicBezTo>
                <a:lnTo>
                  <a:pt x="304691" y="148977"/>
                </a:lnTo>
                <a:cubicBezTo>
                  <a:pt x="298301" y="155367"/>
                  <a:pt x="288786" y="157242"/>
                  <a:pt x="280452" y="153769"/>
                </a:cubicBezTo>
                <a:cubicBezTo>
                  <a:pt x="272117" y="150297"/>
                  <a:pt x="266700" y="142309"/>
                  <a:pt x="266700" y="133350"/>
                </a:cubicBezTo>
                <a:lnTo>
                  <a:pt x="266700" y="111125"/>
                </a:lnTo>
                <a:lnTo>
                  <a:pt x="244475" y="111125"/>
                </a:lnTo>
                <a:cubicBezTo>
                  <a:pt x="237460" y="111125"/>
                  <a:pt x="230862" y="114389"/>
                  <a:pt x="226695" y="120015"/>
                </a:cubicBezTo>
                <a:lnTo>
                  <a:pt x="204192" y="150019"/>
                </a:lnTo>
                <a:lnTo>
                  <a:pt x="176411" y="113000"/>
                </a:lnTo>
                <a:lnTo>
                  <a:pt x="191135" y="93345"/>
                </a:lnTo>
                <a:cubicBezTo>
                  <a:pt x="203706" y="76537"/>
                  <a:pt x="223500" y="66675"/>
                  <a:pt x="244475" y="66675"/>
                </a:cubicBezTo>
                <a:lnTo>
                  <a:pt x="266700" y="66675"/>
                </a:lnTo>
                <a:lnTo>
                  <a:pt x="266700" y="44450"/>
                </a:lnTo>
                <a:cubicBezTo>
                  <a:pt x="266700" y="35491"/>
                  <a:pt x="272117" y="27365"/>
                  <a:pt x="280452" y="23892"/>
                </a:cubicBezTo>
                <a:close/>
                <a:moveTo>
                  <a:pt x="106958" y="205581"/>
                </a:moveTo>
                <a:lnTo>
                  <a:pt x="134739" y="242600"/>
                </a:lnTo>
                <a:lnTo>
                  <a:pt x="120015" y="262255"/>
                </a:lnTo>
                <a:cubicBezTo>
                  <a:pt x="107444" y="279063"/>
                  <a:pt x="87650" y="288925"/>
                  <a:pt x="66675" y="288925"/>
                </a:cubicBezTo>
                <a:lnTo>
                  <a:pt x="22225" y="288925"/>
                </a:lnTo>
                <a:cubicBezTo>
                  <a:pt x="9932" y="288925"/>
                  <a:pt x="0" y="278993"/>
                  <a:pt x="0" y="266700"/>
                </a:cubicBezTo>
                <a:cubicBezTo>
                  <a:pt x="0" y="254407"/>
                  <a:pt x="9932" y="244475"/>
                  <a:pt x="22225" y="244475"/>
                </a:cubicBezTo>
                <a:lnTo>
                  <a:pt x="66675" y="244475"/>
                </a:lnTo>
                <a:cubicBezTo>
                  <a:pt x="73690" y="244475"/>
                  <a:pt x="80288" y="241211"/>
                  <a:pt x="84455" y="235585"/>
                </a:cubicBezTo>
                <a:lnTo>
                  <a:pt x="106958" y="205581"/>
                </a:lnTo>
                <a:close/>
                <a:moveTo>
                  <a:pt x="304621" y="326846"/>
                </a:moveTo>
                <a:cubicBezTo>
                  <a:pt x="298232" y="333236"/>
                  <a:pt x="288717" y="335111"/>
                  <a:pt x="280382" y="331639"/>
                </a:cubicBezTo>
                <a:cubicBezTo>
                  <a:pt x="272048" y="328166"/>
                  <a:pt x="266700" y="320109"/>
                  <a:pt x="266700" y="311150"/>
                </a:cubicBezTo>
                <a:lnTo>
                  <a:pt x="266700" y="288925"/>
                </a:lnTo>
                <a:lnTo>
                  <a:pt x="244475" y="288925"/>
                </a:lnTo>
                <a:cubicBezTo>
                  <a:pt x="223500" y="288925"/>
                  <a:pt x="203706" y="279063"/>
                  <a:pt x="191135" y="262255"/>
                </a:cubicBezTo>
                <a:lnTo>
                  <a:pt x="84455" y="120015"/>
                </a:lnTo>
                <a:cubicBezTo>
                  <a:pt x="80288" y="114389"/>
                  <a:pt x="73690" y="111125"/>
                  <a:pt x="66675" y="11112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cubicBezTo>
                  <a:pt x="87650" y="66675"/>
                  <a:pt x="107444" y="76537"/>
                  <a:pt x="120015" y="93345"/>
                </a:cubicBezTo>
                <a:lnTo>
                  <a:pt x="226695" y="235585"/>
                </a:lnTo>
                <a:cubicBezTo>
                  <a:pt x="230862" y="241211"/>
                  <a:pt x="237460" y="244475"/>
                  <a:pt x="244475" y="244475"/>
                </a:cubicBezTo>
                <a:lnTo>
                  <a:pt x="266700" y="244475"/>
                </a:lnTo>
                <a:lnTo>
                  <a:pt x="266700" y="222250"/>
                </a:lnTo>
                <a:cubicBezTo>
                  <a:pt x="266700" y="213291"/>
                  <a:pt x="272117" y="205165"/>
                  <a:pt x="280452" y="201692"/>
                </a:cubicBezTo>
                <a:cubicBezTo>
                  <a:pt x="288786" y="198219"/>
                  <a:pt x="298301" y="200164"/>
                  <a:pt x="304691" y="206484"/>
                </a:cubicBezTo>
                <a:lnTo>
                  <a:pt x="349141" y="250934"/>
                </a:lnTo>
                <a:cubicBezTo>
                  <a:pt x="353308" y="255101"/>
                  <a:pt x="355669" y="260727"/>
                  <a:pt x="355669" y="266631"/>
                </a:cubicBezTo>
                <a:cubicBezTo>
                  <a:pt x="355669" y="272534"/>
                  <a:pt x="353308" y="278160"/>
                  <a:pt x="349141" y="282327"/>
                </a:cubicBezTo>
                <a:lnTo>
                  <a:pt x="304691" y="32677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826000" y="46863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Adaptability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26000" y="5092700"/>
            <a:ext cx="304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Welcome changes even late in development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90000" y="171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spc="1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AGILE SPRINT CYCLE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890000" y="2222500"/>
            <a:ext cx="6604000" cy="34925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98000" y="266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0" y="266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795000" y="2921000"/>
            <a:ext cx="381000" cy="0"/>
          </a:xfrm>
          <a:prstGeom prst="straightConnector1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1303000" y="266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11303000" y="266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700000" y="2921000"/>
            <a:ext cx="381000" cy="0"/>
          </a:xfrm>
          <a:prstGeom prst="straightConnector1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3208000" y="266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13208000" y="266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843000" y="3429000"/>
            <a:ext cx="0" cy="381000"/>
          </a:xfrm>
          <a:prstGeom prst="straightConnector1">
            <a:avLst/>
          </a:prstGeom>
          <a:noFill/>
          <a:ln w="25400">
            <a:solidFill>
              <a:srgbClr val="22D3EE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3208000" y="393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/>
        </p:spPr>
      </p:sp>
      <p:sp>
        <p:nvSpPr>
          <p:cNvPr id="37" name="Text 35"/>
          <p:cNvSpPr/>
          <p:nvPr/>
        </p:nvSpPr>
        <p:spPr>
          <a:xfrm>
            <a:off x="13208000" y="393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B0E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811000" y="4191000"/>
            <a:ext cx="1270000" cy="0"/>
          </a:xfrm>
          <a:prstGeom prst="straightConnector1">
            <a:avLst/>
          </a:prstGeom>
          <a:noFill/>
          <a:ln w="25400">
            <a:solidFill>
              <a:srgbClr val="22D3EE"/>
            </a:solidFill>
            <a:prstDash val="solid"/>
            <a:headEnd type="arrow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0160000" y="393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/>
        </p:spPr>
      </p:sp>
      <p:sp>
        <p:nvSpPr>
          <p:cNvPr id="40" name="Text 38"/>
          <p:cNvSpPr/>
          <p:nvPr/>
        </p:nvSpPr>
        <p:spPr>
          <a:xfrm>
            <a:off x="10160000" y="393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B0E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033000" y="3505200"/>
            <a:ext cx="0" cy="508000"/>
          </a:xfrm>
          <a:prstGeom prst="straightConnector1">
            <a:avLst/>
          </a:prstGeom>
          <a:noFill/>
          <a:ln w="25400">
            <a:solidFill>
              <a:srgbClr val="22D3EE"/>
            </a:solidFill>
            <a:prstDash val="solid"/>
            <a:headEnd type="arrow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9398000" y="49530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sprint cycle: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2–4 weeks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62000" y="62230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Agile methodology ensures iterative development with continuous stakeholder feedback, making it ideal for the evolving requirements of healthcare systems.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Agile for Medical Systems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574800" y="20320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&amp; Compliance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25400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Medical regulations like HIPAA are strict. Agile allows for continuous auditing and ensuring security standards are met at every stage of development, not just at the end.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8000" y="1778000"/>
            <a:ext cx="7366000" cy="3048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07400" y="2032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8940800" y="2032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Response to User Needs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82000" y="25400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Doctors might find that e-prescribing needs a different workflow. Agile lets us pivot quickly without restarting the entire project, saving time and resources.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0800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6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5556" y="-19764"/>
                </a:moveTo>
                <a:cubicBezTo>
                  <a:pt x="13017" y="-27226"/>
                  <a:pt x="25083" y="-27226"/>
                  <a:pt x="32464" y="-19764"/>
                </a:cubicBezTo>
                <a:lnTo>
                  <a:pt x="191929" y="139700"/>
                </a:lnTo>
                <a:lnTo>
                  <a:pt x="273050" y="139700"/>
                </a:lnTo>
                <a:cubicBezTo>
                  <a:pt x="284321" y="139700"/>
                  <a:pt x="295037" y="141923"/>
                  <a:pt x="304800" y="146050"/>
                </a:cubicBezTo>
                <a:lnTo>
                  <a:pt x="391160" y="81280"/>
                </a:lnTo>
                <a:cubicBezTo>
                  <a:pt x="402352" y="72866"/>
                  <a:pt x="418306" y="75168"/>
                  <a:pt x="426720" y="86360"/>
                </a:cubicBezTo>
                <a:cubicBezTo>
                  <a:pt x="435134" y="97552"/>
                  <a:pt x="432832" y="113506"/>
                  <a:pt x="421640" y="121920"/>
                </a:cubicBezTo>
                <a:lnTo>
                  <a:pt x="344011" y="180102"/>
                </a:lnTo>
                <a:cubicBezTo>
                  <a:pt x="348218" y="187166"/>
                  <a:pt x="351393" y="194945"/>
                  <a:pt x="353378" y="203200"/>
                </a:cubicBezTo>
                <a:lnTo>
                  <a:pt x="431800" y="203200"/>
                </a:lnTo>
                <a:cubicBezTo>
                  <a:pt x="445849" y="203200"/>
                  <a:pt x="457200" y="214551"/>
                  <a:pt x="457200" y="228600"/>
                </a:cubicBezTo>
                <a:cubicBezTo>
                  <a:pt x="457200" y="242649"/>
                  <a:pt x="445849" y="254000"/>
                  <a:pt x="431800" y="254000"/>
                </a:cubicBezTo>
                <a:lnTo>
                  <a:pt x="355600" y="254000"/>
                </a:lnTo>
                <a:lnTo>
                  <a:pt x="355600" y="279400"/>
                </a:lnTo>
                <a:cubicBezTo>
                  <a:pt x="355600" y="286941"/>
                  <a:pt x="354965" y="294243"/>
                  <a:pt x="353695" y="301466"/>
                </a:cubicBezTo>
                <a:lnTo>
                  <a:pt x="451644" y="399336"/>
                </a:lnTo>
                <a:cubicBezTo>
                  <a:pt x="459105" y="406797"/>
                  <a:pt x="459105" y="418862"/>
                  <a:pt x="451644" y="426244"/>
                </a:cubicBezTo>
                <a:cubicBezTo>
                  <a:pt x="444183" y="433626"/>
                  <a:pt x="432118" y="433705"/>
                  <a:pt x="424736" y="426244"/>
                </a:cubicBezTo>
                <a:lnTo>
                  <a:pt x="5556" y="7223"/>
                </a:lnTo>
                <a:cubicBezTo>
                  <a:pt x="-1826" y="-238"/>
                  <a:pt x="-1826" y="-12303"/>
                  <a:pt x="5556" y="-19764"/>
                </a:cubicBezTo>
                <a:close/>
                <a:moveTo>
                  <a:pt x="316071" y="371475"/>
                </a:moveTo>
                <a:cubicBezTo>
                  <a:pt x="297656" y="389017"/>
                  <a:pt x="274003" y="401003"/>
                  <a:pt x="247650" y="404971"/>
                </a:cubicBezTo>
                <a:lnTo>
                  <a:pt x="247650" y="303054"/>
                </a:lnTo>
                <a:lnTo>
                  <a:pt x="316071" y="371475"/>
                </a:lnTo>
                <a:close/>
                <a:moveTo>
                  <a:pt x="209550" y="264954"/>
                </a:moveTo>
                <a:lnTo>
                  <a:pt x="209550" y="404971"/>
                </a:lnTo>
                <a:cubicBezTo>
                  <a:pt x="168910" y="398859"/>
                  <a:pt x="134541" y="373459"/>
                  <a:pt x="116126" y="338376"/>
                </a:cubicBezTo>
                <a:lnTo>
                  <a:pt x="66040" y="375920"/>
                </a:lnTo>
                <a:cubicBezTo>
                  <a:pt x="54848" y="384334"/>
                  <a:pt x="38894" y="382032"/>
                  <a:pt x="30480" y="370840"/>
                </a:cubicBezTo>
                <a:cubicBezTo>
                  <a:pt x="22066" y="359648"/>
                  <a:pt x="24368" y="343694"/>
                  <a:pt x="35560" y="335280"/>
                </a:cubicBezTo>
                <a:lnTo>
                  <a:pt x="101759" y="285671"/>
                </a:lnTo>
                <a:cubicBezTo>
                  <a:pt x="101679" y="283607"/>
                  <a:pt x="101600" y="281543"/>
                  <a:pt x="101600" y="279400"/>
                </a:cubicBezTo>
                <a:lnTo>
                  <a:pt x="101600" y="254000"/>
                </a:lnTo>
                <a:lnTo>
                  <a:pt x="25400" y="254000"/>
                </a:lnTo>
                <a:cubicBezTo>
                  <a:pt x="11351" y="254000"/>
                  <a:pt x="0" y="242649"/>
                  <a:pt x="0" y="228600"/>
                </a:cubicBezTo>
                <a:cubicBezTo>
                  <a:pt x="0" y="214551"/>
                  <a:pt x="11351" y="203200"/>
                  <a:pt x="25400" y="203200"/>
                </a:cubicBezTo>
                <a:lnTo>
                  <a:pt x="103823" y="203200"/>
                </a:lnTo>
                <a:cubicBezTo>
                  <a:pt x="106442" y="192167"/>
                  <a:pt x="111204" y="182007"/>
                  <a:pt x="117793" y="173196"/>
                </a:cubicBezTo>
                <a:lnTo>
                  <a:pt x="209550" y="264954"/>
                </a:lnTo>
                <a:close/>
                <a:moveTo>
                  <a:pt x="282258" y="101600"/>
                </a:moveTo>
                <a:lnTo>
                  <a:pt x="216853" y="101600"/>
                </a:lnTo>
                <a:lnTo>
                  <a:pt x="159464" y="44212"/>
                </a:lnTo>
                <a:cubicBezTo>
                  <a:pt x="171529" y="18098"/>
                  <a:pt x="197961" y="0"/>
                  <a:pt x="228600" y="0"/>
                </a:cubicBezTo>
                <a:cubicBezTo>
                  <a:pt x="270669" y="0"/>
                  <a:pt x="304800" y="34131"/>
                  <a:pt x="304800" y="76200"/>
                </a:cubicBezTo>
                <a:lnTo>
                  <a:pt x="304800" y="79058"/>
                </a:lnTo>
                <a:cubicBezTo>
                  <a:pt x="304800" y="91519"/>
                  <a:pt x="294719" y="101600"/>
                  <a:pt x="282258" y="1016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574800" y="5334000"/>
            <a:ext cx="596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Mitigation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" y="58420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testing small parts of the system early, we catch critical bugs (like data errors) before they can affect actual patients in production.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28000" y="5080000"/>
            <a:ext cx="7366000" cy="3048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66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13439" y="67628"/>
                </a:moveTo>
                <a:lnTo>
                  <a:pt x="120888" y="170498"/>
                </a:lnTo>
                <a:cubicBezTo>
                  <a:pt x="117237" y="174546"/>
                  <a:pt x="117396" y="180816"/>
                  <a:pt x="121285" y="184706"/>
                </a:cubicBezTo>
                <a:cubicBezTo>
                  <a:pt x="145494" y="208915"/>
                  <a:pt x="184785" y="208915"/>
                  <a:pt x="208994" y="184706"/>
                </a:cubicBezTo>
                <a:lnTo>
                  <a:pt x="234236" y="159464"/>
                </a:lnTo>
                <a:cubicBezTo>
                  <a:pt x="237569" y="156131"/>
                  <a:pt x="241776" y="154305"/>
                  <a:pt x="246063" y="153988"/>
                </a:cubicBezTo>
                <a:cubicBezTo>
                  <a:pt x="251460" y="153511"/>
                  <a:pt x="257016" y="155337"/>
                  <a:pt x="261144" y="159464"/>
                </a:cubicBezTo>
                <a:lnTo>
                  <a:pt x="401320" y="298450"/>
                </a:lnTo>
                <a:lnTo>
                  <a:pt x="457200" y="254000"/>
                </a:lnTo>
                <a:lnTo>
                  <a:pt x="457200" y="25400"/>
                </a:lnTo>
                <a:lnTo>
                  <a:pt x="368300" y="76200"/>
                </a:lnTo>
                <a:lnTo>
                  <a:pt x="349409" y="63579"/>
                </a:lnTo>
                <a:cubicBezTo>
                  <a:pt x="336867" y="55245"/>
                  <a:pt x="322183" y="50800"/>
                  <a:pt x="307102" y="50800"/>
                </a:cubicBezTo>
                <a:lnTo>
                  <a:pt x="251222" y="50800"/>
                </a:lnTo>
                <a:cubicBezTo>
                  <a:pt x="250349" y="50800"/>
                  <a:pt x="249396" y="50800"/>
                  <a:pt x="248523" y="50879"/>
                </a:cubicBezTo>
                <a:cubicBezTo>
                  <a:pt x="235109" y="51594"/>
                  <a:pt x="222488" y="57626"/>
                  <a:pt x="213439" y="67627"/>
                </a:cubicBezTo>
                <a:close/>
                <a:moveTo>
                  <a:pt x="92551" y="145018"/>
                </a:moveTo>
                <a:lnTo>
                  <a:pt x="177324" y="50800"/>
                </a:lnTo>
                <a:lnTo>
                  <a:pt x="145891" y="50800"/>
                </a:lnTo>
                <a:cubicBezTo>
                  <a:pt x="125651" y="50800"/>
                  <a:pt x="106283" y="58817"/>
                  <a:pt x="91996" y="73104"/>
                </a:cubicBezTo>
                <a:lnTo>
                  <a:pt x="88900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24143" y="357426"/>
                </a:lnTo>
                <a:cubicBezTo>
                  <a:pt x="142399" y="372666"/>
                  <a:pt x="165418" y="381000"/>
                  <a:pt x="189151" y="381000"/>
                </a:cubicBezTo>
                <a:lnTo>
                  <a:pt x="201613" y="381000"/>
                </a:lnTo>
                <a:lnTo>
                  <a:pt x="196056" y="375444"/>
                </a:lnTo>
                <a:cubicBezTo>
                  <a:pt x="188595" y="367983"/>
                  <a:pt x="188595" y="355918"/>
                  <a:pt x="196056" y="348536"/>
                </a:cubicBezTo>
                <a:cubicBezTo>
                  <a:pt x="203518" y="341154"/>
                  <a:pt x="215583" y="341074"/>
                  <a:pt x="222964" y="348536"/>
                </a:cubicBezTo>
                <a:lnTo>
                  <a:pt x="255508" y="381079"/>
                </a:lnTo>
                <a:lnTo>
                  <a:pt x="262652" y="381079"/>
                </a:lnTo>
                <a:cubicBezTo>
                  <a:pt x="277813" y="381079"/>
                  <a:pt x="292656" y="377666"/>
                  <a:pt x="306149" y="371316"/>
                </a:cubicBezTo>
                <a:lnTo>
                  <a:pt x="284956" y="350044"/>
                </a:lnTo>
                <a:cubicBezTo>
                  <a:pt x="277495" y="342583"/>
                  <a:pt x="277495" y="330518"/>
                  <a:pt x="284956" y="323136"/>
                </a:cubicBezTo>
                <a:cubicBezTo>
                  <a:pt x="292418" y="315754"/>
                  <a:pt x="304483" y="315674"/>
                  <a:pt x="311864" y="323136"/>
                </a:cubicBezTo>
                <a:lnTo>
                  <a:pt x="337264" y="348536"/>
                </a:lnTo>
                <a:lnTo>
                  <a:pt x="351155" y="334645"/>
                </a:lnTo>
                <a:cubicBezTo>
                  <a:pt x="358219" y="327581"/>
                  <a:pt x="360283" y="317341"/>
                  <a:pt x="357188" y="308372"/>
                </a:cubicBezTo>
                <a:lnTo>
                  <a:pt x="247729" y="199787"/>
                </a:lnTo>
                <a:lnTo>
                  <a:pt x="235903" y="211614"/>
                </a:lnTo>
                <a:cubicBezTo>
                  <a:pt x="196771" y="250746"/>
                  <a:pt x="133429" y="250746"/>
                  <a:pt x="94298" y="211614"/>
                </a:cubicBezTo>
                <a:cubicBezTo>
                  <a:pt x="76041" y="193357"/>
                  <a:pt x="75327" y="164068"/>
                  <a:pt x="92551" y="14493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8940800" y="53340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Alignment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82000" y="58420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Keeps doctors, clinic managers, and developers in constant communication, ensuring the final product solves real-world medical problems.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655279" y="4879425"/>
            <a:ext cx="2540044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and Tools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technologies for a robust healthcare platform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22500"/>
          <a:ext cx="14732000" cy="5969000"/>
        </p:xfrm>
        <a:graphic>
          <a:graphicData uri="http://schemas.openxmlformats.org/drawingml/2006/table">
            <a:tbl>
              <a:tblPr/>
              <a:tblGrid>
                <a:gridCol w="3241040"/>
                <a:gridCol w="2651760"/>
                <a:gridCol w="8839200"/>
              </a:tblGrid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 Back-End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ASP.NET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Server-side framework for robust API development and business logic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</a:tr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 Front-End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HTML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 and content markup for web interfaces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</a:tr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 Front-End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Styling and layout with responsive design principles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</a:tr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 Front-End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JavaScript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Interactive functionality and dynamic user experience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</a:tr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 Front-End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Modern component-based UI framework for scalable interfaces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</a:tr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 App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Flutter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Cross-platform development for iOS and Android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</a:tr>
              <a:tr h="66180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SQL Server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Relational database management for structured healthcare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2B"/>
                    </a:solidFill>
                  </a:tcPr>
                </a:tc>
              </a:tr>
              <a:tr h="6745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Python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chatbot development with NLP and machine learning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2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Market Analysis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 Competitive Landscape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Healthcare Digital Transformation, Existing Systems,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Gaps &amp; Proposed 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47376" y="1905000"/>
            <a:ext cx="4826000" cy="5080000"/>
          </a:xfrm>
          <a:prstGeom prst="roundRect">
            <a:avLst>
              <a:gd name="adj" fmla="val 12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13" name="Image 0" descr="https://kimi-img.moonshot.cn/pub/slides/26-06-03-11:02:21-d8fpifde09n5aatk93s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3103" y="2139950"/>
            <a:ext cx="5954546" cy="421005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Digital Transformation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00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4638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Evolution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2895600"/>
            <a:ext cx="4191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Healthcare driven by technological advancements and changing patient expectations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6775" y="200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24638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Telemedicine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69000" y="2895600"/>
            <a:ext cx="4191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consultations replacing traditional in-person visits for routine care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668000" y="1778000"/>
            <a:ext cx="4826000" cy="2159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99775" y="200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24638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22000" y="2895600"/>
            <a:ext cx="4318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Unified platforms connecting all aspects of comprehensive patient care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41910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3775" y="4419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48768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Expectations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16000" y="5308600"/>
            <a:ext cx="660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Patients now expect the same convenience in healthcare as in e-commerce and digital banking — instant access, transparent pricing, and seamless experiences.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8000" y="4191000"/>
            <a:ext cx="7366000" cy="2159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20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5581" y="27781"/>
                </a:moveTo>
                <a:cubicBezTo>
                  <a:pt x="205581" y="12432"/>
                  <a:pt x="193149" y="0"/>
                  <a:pt x="177800" y="0"/>
                </a:cubicBezTo>
                <a:cubicBezTo>
                  <a:pt x="162451" y="0"/>
                  <a:pt x="150019" y="12432"/>
                  <a:pt x="150019" y="27781"/>
                </a:cubicBezTo>
                <a:cubicBezTo>
                  <a:pt x="150019" y="58410"/>
                  <a:pt x="113000" y="73690"/>
                  <a:pt x="91331" y="52090"/>
                </a:cubicBezTo>
                <a:cubicBezTo>
                  <a:pt x="80496" y="41255"/>
                  <a:pt x="62925" y="41255"/>
                  <a:pt x="52020" y="52090"/>
                </a:cubicBezTo>
                <a:cubicBezTo>
                  <a:pt x="41116" y="62925"/>
                  <a:pt x="41186" y="80496"/>
                  <a:pt x="52020" y="91400"/>
                </a:cubicBezTo>
                <a:cubicBezTo>
                  <a:pt x="73690" y="113070"/>
                  <a:pt x="58341" y="150088"/>
                  <a:pt x="27712" y="150088"/>
                </a:cubicBezTo>
                <a:cubicBezTo>
                  <a:pt x="12363" y="150088"/>
                  <a:pt x="-69" y="162520"/>
                  <a:pt x="-69" y="177869"/>
                </a:cubicBezTo>
                <a:cubicBezTo>
                  <a:pt x="-69" y="193219"/>
                  <a:pt x="12363" y="205651"/>
                  <a:pt x="27712" y="205651"/>
                </a:cubicBezTo>
                <a:cubicBezTo>
                  <a:pt x="58341" y="205651"/>
                  <a:pt x="73620" y="242669"/>
                  <a:pt x="52020" y="264339"/>
                </a:cubicBezTo>
                <a:cubicBezTo>
                  <a:pt x="41186" y="275173"/>
                  <a:pt x="41186" y="292745"/>
                  <a:pt x="52020" y="303649"/>
                </a:cubicBezTo>
                <a:cubicBezTo>
                  <a:pt x="62855" y="314553"/>
                  <a:pt x="80427" y="314484"/>
                  <a:pt x="91331" y="303649"/>
                </a:cubicBezTo>
                <a:cubicBezTo>
                  <a:pt x="113000" y="281980"/>
                  <a:pt x="150019" y="297329"/>
                  <a:pt x="150019" y="327958"/>
                </a:cubicBezTo>
                <a:cubicBezTo>
                  <a:pt x="150019" y="343307"/>
                  <a:pt x="162451" y="355739"/>
                  <a:pt x="177800" y="355739"/>
                </a:cubicBezTo>
                <a:cubicBezTo>
                  <a:pt x="193149" y="355739"/>
                  <a:pt x="205581" y="343307"/>
                  <a:pt x="205581" y="327958"/>
                </a:cubicBezTo>
                <a:cubicBezTo>
                  <a:pt x="205581" y="297329"/>
                  <a:pt x="242600" y="282049"/>
                  <a:pt x="264269" y="303649"/>
                </a:cubicBezTo>
                <a:cubicBezTo>
                  <a:pt x="275104" y="314484"/>
                  <a:pt x="292675" y="314484"/>
                  <a:pt x="303580" y="303649"/>
                </a:cubicBezTo>
                <a:cubicBezTo>
                  <a:pt x="314484" y="292814"/>
                  <a:pt x="314414" y="275243"/>
                  <a:pt x="303580" y="264339"/>
                </a:cubicBezTo>
                <a:cubicBezTo>
                  <a:pt x="281910" y="242669"/>
                  <a:pt x="297259" y="205651"/>
                  <a:pt x="327888" y="205651"/>
                </a:cubicBezTo>
                <a:cubicBezTo>
                  <a:pt x="343237" y="205651"/>
                  <a:pt x="355669" y="193219"/>
                  <a:pt x="355669" y="177869"/>
                </a:cubicBezTo>
                <a:cubicBezTo>
                  <a:pt x="355669" y="162520"/>
                  <a:pt x="343237" y="150088"/>
                  <a:pt x="327888" y="150088"/>
                </a:cubicBezTo>
                <a:cubicBezTo>
                  <a:pt x="297259" y="150088"/>
                  <a:pt x="281980" y="113070"/>
                  <a:pt x="303580" y="91400"/>
                </a:cubicBezTo>
                <a:cubicBezTo>
                  <a:pt x="314414" y="80566"/>
                  <a:pt x="314414" y="62994"/>
                  <a:pt x="303580" y="52090"/>
                </a:cubicBezTo>
                <a:cubicBezTo>
                  <a:pt x="292745" y="41186"/>
                  <a:pt x="275173" y="41255"/>
                  <a:pt x="264269" y="52090"/>
                </a:cubicBezTo>
                <a:cubicBezTo>
                  <a:pt x="242600" y="73690"/>
                  <a:pt x="205581" y="58410"/>
                  <a:pt x="205581" y="27781"/>
                </a:cubicBezTo>
                <a:close/>
                <a:moveTo>
                  <a:pt x="111125" y="155575"/>
                </a:moveTo>
                <a:cubicBezTo>
                  <a:pt x="111125" y="143309"/>
                  <a:pt x="121084" y="133350"/>
                  <a:pt x="133350" y="133350"/>
                </a:cubicBezTo>
                <a:cubicBezTo>
                  <a:pt x="145616" y="133350"/>
                  <a:pt x="155575" y="143309"/>
                  <a:pt x="155575" y="155575"/>
                </a:cubicBezTo>
                <a:cubicBezTo>
                  <a:pt x="155575" y="167841"/>
                  <a:pt x="145616" y="177800"/>
                  <a:pt x="133350" y="177800"/>
                </a:cubicBezTo>
                <a:cubicBezTo>
                  <a:pt x="121084" y="177800"/>
                  <a:pt x="111125" y="167841"/>
                  <a:pt x="111125" y="155575"/>
                </a:cubicBezTo>
                <a:close/>
                <a:moveTo>
                  <a:pt x="222250" y="177800"/>
                </a:moveTo>
                <a:cubicBezTo>
                  <a:pt x="234516" y="177800"/>
                  <a:pt x="244475" y="187759"/>
                  <a:pt x="244475" y="200025"/>
                </a:cubicBezTo>
                <a:cubicBezTo>
                  <a:pt x="244475" y="212291"/>
                  <a:pt x="234516" y="222250"/>
                  <a:pt x="222250" y="222250"/>
                </a:cubicBezTo>
                <a:cubicBezTo>
                  <a:pt x="209984" y="222250"/>
                  <a:pt x="200025" y="212291"/>
                  <a:pt x="200025" y="200025"/>
                </a:cubicBezTo>
                <a:cubicBezTo>
                  <a:pt x="200025" y="187759"/>
                  <a:pt x="209984" y="177800"/>
                  <a:pt x="222250" y="1778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382000" y="48768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COVID-19 Impact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82000" y="5308600"/>
            <a:ext cx="6858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pandemic accelerated digital transformation, demonstrating the viability and necessity of remote healthcare services for continuous patient care.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6731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000" y="6921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healthcare industry has experienced a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paradigm shift toward digitalization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driven by technological advancements and changing patient expectations.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Systems — Telemedicine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1968500"/>
            <a:ext cx="419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Teladoc Health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24/7 virtual consultations, mental health services, and chronic condition management.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355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Extensive provider network, global presence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6000" y="4254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US-focused, higher costs for uninsured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17145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9000" y="1968500"/>
            <a:ext cx="419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 On Demand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69000" y="2413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Video consultations for urgent care, mental health, and preventive care.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69000" y="355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User-friendly, same-day appointments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69000" y="4254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Limited diagnostic capabilities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68000" y="1714500"/>
            <a:ext cx="4826000" cy="482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22000" y="1968500"/>
            <a:ext cx="431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2413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Doctor search, appointment booking, online consultations, and health records.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22000" y="3556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Large provider database in India/SE Asia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22000" y="4254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Inconsistent service quality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6858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7048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Telemedicine Platforms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excel at virtual consultations but lack comprehensive care integration.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Systems — Integrated Platforms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1968500"/>
            <a:ext cx="419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Zocdoc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Doctor discovery, appointment scheduling, and patient reviews with comprehensive provider info.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355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Comprehensive provider information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6000" y="4254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Lacks diagnostic integration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17145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9000" y="1968500"/>
            <a:ext cx="419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HealthTap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69000" y="2413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consultations, AI symptom checker, and prescription management with 24/7 doctor access.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69000" y="355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AI symptom checker, 24/7 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69000" y="4254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Limited regional availability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68000" y="1714500"/>
            <a:ext cx="4826000" cy="482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22000" y="1968500"/>
            <a:ext cx="431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mfine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2413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Teleconsultations, diagnostic tests, and health packages with an integrated approach.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22000" y="3556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Integrated diagnostics approach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22000" y="4254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F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Regional limitations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6858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7048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Issue: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Most platforms excel in individual segments but lack seamless integration.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Identified Gaps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Critical limitations in existing digital healthcare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159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2286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0500" y="2286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2500" y="26924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Disconnection between scheduling, records, and care tools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45000" y="2159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5500" y="2286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3500" y="2286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35500" y="26924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Disjointed transitions between search, scheduling, and consultations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8000" y="2159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8500" y="2286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26500" y="2286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Silos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18500" y="26924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EMRs rarely centralized across independent clinics or apps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811000" y="2159000"/>
            <a:ext cx="3683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01500" y="2286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509500" y="22860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Follow-up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001500" y="2692400"/>
            <a:ext cx="330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Inadequate automation for tracking patient adherence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2000" y="3937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500" y="4064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0500" y="406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Limits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2500" y="44704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Regional constraints on provider databases and usability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445000" y="3937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5500" y="4064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43500" y="406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Transparency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635500" y="44704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Lack of upfront clarity on consultation fees and costs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28000" y="3937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8500" y="4064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26500" y="406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Diagnostic Gaps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318500" y="44704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Weak pipelines linking virtual assessment to lab systems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811000" y="3937000"/>
            <a:ext cx="3683000" cy="152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01500" y="406400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509500" y="40640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2001500" y="4470400"/>
            <a:ext cx="330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Insufficient real-time channels post-consultation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2000" y="5842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1016000" y="6032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critical gaps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 the core opportunities that MediDash is designed to address.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1016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MediDash comprehensive solution addressing all identified gaps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0600" y="2476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0099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Telemedicine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6000" y="347980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Seamless video, audio, and chat consultations with doctors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0" y="2222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19800" y="2476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69850" y="152400"/>
                </a:moveTo>
                <a:cubicBezTo>
                  <a:pt x="59293" y="152400"/>
                  <a:pt x="50800" y="160893"/>
                  <a:pt x="50800" y="171450"/>
                </a:cubicBezTo>
                <a:lnTo>
                  <a:pt x="50800" y="285750"/>
                </a:lnTo>
                <a:cubicBezTo>
                  <a:pt x="50800" y="296307"/>
                  <a:pt x="59293" y="304800"/>
                  <a:pt x="69850" y="304800"/>
                </a:cubicBezTo>
                <a:cubicBezTo>
                  <a:pt x="80407" y="304800"/>
                  <a:pt x="88900" y="296307"/>
                  <a:pt x="88900" y="285750"/>
                </a:cubicBezTo>
                <a:lnTo>
                  <a:pt x="88900" y="254000"/>
                </a:lnTo>
                <a:lnTo>
                  <a:pt x="106759" y="254000"/>
                </a:lnTo>
                <a:lnTo>
                  <a:pt x="153114" y="297656"/>
                </a:lnTo>
                <a:lnTo>
                  <a:pt x="126603" y="322739"/>
                </a:lnTo>
                <a:cubicBezTo>
                  <a:pt x="118983" y="329962"/>
                  <a:pt x="118586" y="342027"/>
                  <a:pt x="125889" y="349647"/>
                </a:cubicBezTo>
                <a:cubicBezTo>
                  <a:pt x="133191" y="357267"/>
                  <a:pt x="145177" y="357664"/>
                  <a:pt x="152797" y="350361"/>
                </a:cubicBezTo>
                <a:lnTo>
                  <a:pt x="180896" y="323771"/>
                </a:lnTo>
                <a:lnTo>
                  <a:pt x="209153" y="350361"/>
                </a:lnTo>
                <a:cubicBezTo>
                  <a:pt x="216853" y="357584"/>
                  <a:pt x="228838" y="357188"/>
                  <a:pt x="236061" y="349568"/>
                </a:cubicBezTo>
                <a:cubicBezTo>
                  <a:pt x="243284" y="341947"/>
                  <a:pt x="242888" y="329883"/>
                  <a:pt x="235267" y="322659"/>
                </a:cubicBezTo>
                <a:lnTo>
                  <a:pt x="208597" y="297577"/>
                </a:lnTo>
                <a:lnTo>
                  <a:pt x="235267" y="272336"/>
                </a:lnTo>
                <a:cubicBezTo>
                  <a:pt x="242888" y="265113"/>
                  <a:pt x="243284" y="253047"/>
                  <a:pt x="235982" y="245428"/>
                </a:cubicBezTo>
                <a:cubicBezTo>
                  <a:pt x="228679" y="237808"/>
                  <a:pt x="216694" y="237411"/>
                  <a:pt x="209074" y="244713"/>
                </a:cubicBezTo>
                <a:lnTo>
                  <a:pt x="180737" y="271463"/>
                </a:lnTo>
                <a:lnTo>
                  <a:pt x="148272" y="240903"/>
                </a:lnTo>
                <a:cubicBezTo>
                  <a:pt x="158512" y="231616"/>
                  <a:pt x="165021" y="218202"/>
                  <a:pt x="165021" y="203200"/>
                </a:cubicBezTo>
                <a:cubicBezTo>
                  <a:pt x="165021" y="175181"/>
                  <a:pt x="142240" y="152400"/>
                  <a:pt x="114221" y="152400"/>
                </a:cubicBezTo>
                <a:lnTo>
                  <a:pt x="69771" y="152400"/>
                </a:lnTo>
                <a:close/>
                <a:moveTo>
                  <a:pt x="95250" y="215900"/>
                </a:moveTo>
                <a:lnTo>
                  <a:pt x="88900" y="215900"/>
                </a:lnTo>
                <a:lnTo>
                  <a:pt x="88900" y="190500"/>
                </a:lnTo>
                <a:lnTo>
                  <a:pt x="114300" y="190500"/>
                </a:lnTo>
                <a:cubicBezTo>
                  <a:pt x="121285" y="190500"/>
                  <a:pt x="127000" y="196215"/>
                  <a:pt x="127000" y="203200"/>
                </a:cubicBezTo>
                <a:cubicBezTo>
                  <a:pt x="127000" y="210185"/>
                  <a:pt x="121285" y="215900"/>
                  <a:pt x="114300" y="215900"/>
                </a:cubicBezTo>
                <a:lnTo>
                  <a:pt x="95250" y="2159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969000" y="30099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E-Prescriptions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69000" y="347980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Electronic prescriptions with digital signature and tracking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0" y="2222500"/>
            <a:ext cx="4826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6600" y="2476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4450" y="179070"/>
                </a:moveTo>
                <a:lnTo>
                  <a:pt x="25717" y="235109"/>
                </a:lnTo>
                <a:lnTo>
                  <a:pt x="25717" y="76200"/>
                </a:lnTo>
                <a:cubicBezTo>
                  <a:pt x="25717" y="48181"/>
                  <a:pt x="48498" y="25400"/>
                  <a:pt x="76518" y="25400"/>
                </a:cubicBezTo>
                <a:lnTo>
                  <a:pt x="186611" y="25400"/>
                </a:lnTo>
                <a:cubicBezTo>
                  <a:pt x="197564" y="25400"/>
                  <a:pt x="208280" y="28972"/>
                  <a:pt x="217091" y="35560"/>
                </a:cubicBezTo>
                <a:lnTo>
                  <a:pt x="247571" y="58420"/>
                </a:lnTo>
                <a:cubicBezTo>
                  <a:pt x="251936" y="61754"/>
                  <a:pt x="257334" y="63500"/>
                  <a:pt x="262811" y="63500"/>
                </a:cubicBezTo>
                <a:lnTo>
                  <a:pt x="355918" y="63500"/>
                </a:lnTo>
                <a:cubicBezTo>
                  <a:pt x="383937" y="63500"/>
                  <a:pt x="406718" y="86281"/>
                  <a:pt x="406718" y="114300"/>
                </a:cubicBezTo>
                <a:lnTo>
                  <a:pt x="406718" y="127000"/>
                </a:lnTo>
                <a:lnTo>
                  <a:pt x="116681" y="127000"/>
                </a:lnTo>
                <a:cubicBezTo>
                  <a:pt x="83899" y="127000"/>
                  <a:pt x="54769" y="147955"/>
                  <a:pt x="44371" y="179070"/>
                </a:cubicBezTo>
                <a:close/>
                <a:moveTo>
                  <a:pt x="379254" y="355600"/>
                </a:moveTo>
                <a:lnTo>
                  <a:pt x="78581" y="355600"/>
                </a:lnTo>
                <a:cubicBezTo>
                  <a:pt x="52546" y="355600"/>
                  <a:pt x="34211" y="330121"/>
                  <a:pt x="42466" y="305435"/>
                </a:cubicBezTo>
                <a:lnTo>
                  <a:pt x="80566" y="191135"/>
                </a:lnTo>
                <a:cubicBezTo>
                  <a:pt x="85725" y="175577"/>
                  <a:pt x="100330" y="165100"/>
                  <a:pt x="116681" y="165100"/>
                </a:cubicBezTo>
                <a:lnTo>
                  <a:pt x="417354" y="165100"/>
                </a:lnTo>
                <a:cubicBezTo>
                  <a:pt x="443389" y="165100"/>
                  <a:pt x="461724" y="190579"/>
                  <a:pt x="453469" y="215265"/>
                </a:cubicBezTo>
                <a:lnTo>
                  <a:pt x="415369" y="329565"/>
                </a:lnTo>
                <a:cubicBezTo>
                  <a:pt x="410210" y="345123"/>
                  <a:pt x="395605" y="355600"/>
                  <a:pt x="379254" y="3556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30099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Records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3479800"/>
            <a:ext cx="431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Centralized electronic health records across all touchpoints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7112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8674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Communication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6000" y="6337300"/>
            <a:ext cx="6604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channels between patients and doctors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28000" y="5080000"/>
            <a:ext cx="7366000" cy="254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66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18453" y="31036"/>
                </a:moveTo>
                <a:lnTo>
                  <a:pt x="436086" y="150336"/>
                </a:lnTo>
                <a:cubicBezTo>
                  <a:pt x="458073" y="172641"/>
                  <a:pt x="458073" y="208359"/>
                  <a:pt x="436086" y="230664"/>
                </a:cubicBezTo>
                <a:lnTo>
                  <a:pt x="311944" y="356314"/>
                </a:lnTo>
                <a:cubicBezTo>
                  <a:pt x="304562" y="363776"/>
                  <a:pt x="292497" y="363855"/>
                  <a:pt x="285036" y="356473"/>
                </a:cubicBezTo>
                <a:cubicBezTo>
                  <a:pt x="277574" y="349091"/>
                  <a:pt x="277495" y="337026"/>
                  <a:pt x="284877" y="329565"/>
                </a:cubicBezTo>
                <a:lnTo>
                  <a:pt x="409019" y="203835"/>
                </a:lnTo>
                <a:cubicBezTo>
                  <a:pt x="416322" y="196453"/>
                  <a:pt x="416322" y="184468"/>
                  <a:pt x="409019" y="177086"/>
                </a:cubicBezTo>
                <a:lnTo>
                  <a:pt x="291306" y="57864"/>
                </a:lnTo>
                <a:cubicBezTo>
                  <a:pt x="283924" y="50403"/>
                  <a:pt x="284004" y="38338"/>
                  <a:pt x="291465" y="30956"/>
                </a:cubicBezTo>
                <a:cubicBezTo>
                  <a:pt x="298926" y="23574"/>
                  <a:pt x="310991" y="23654"/>
                  <a:pt x="318373" y="31115"/>
                </a:cubicBezTo>
                <a:close/>
                <a:moveTo>
                  <a:pt x="25479" y="182166"/>
                </a:moveTo>
                <a:lnTo>
                  <a:pt x="25479" y="76200"/>
                </a:lnTo>
                <a:cubicBezTo>
                  <a:pt x="25479" y="48181"/>
                  <a:pt x="48260" y="25400"/>
                  <a:pt x="76279" y="25400"/>
                </a:cubicBezTo>
                <a:lnTo>
                  <a:pt x="182245" y="25400"/>
                </a:lnTo>
                <a:cubicBezTo>
                  <a:pt x="195739" y="25400"/>
                  <a:pt x="208677" y="30718"/>
                  <a:pt x="218202" y="40243"/>
                </a:cubicBezTo>
                <a:lnTo>
                  <a:pt x="332502" y="154543"/>
                </a:lnTo>
                <a:cubicBezTo>
                  <a:pt x="352346" y="174387"/>
                  <a:pt x="352346" y="206534"/>
                  <a:pt x="332502" y="226377"/>
                </a:cubicBezTo>
                <a:lnTo>
                  <a:pt x="226536" y="332343"/>
                </a:lnTo>
                <a:cubicBezTo>
                  <a:pt x="206692" y="352187"/>
                  <a:pt x="174546" y="352187"/>
                  <a:pt x="154702" y="332343"/>
                </a:cubicBezTo>
                <a:lnTo>
                  <a:pt x="40402" y="218043"/>
                </a:lnTo>
                <a:cubicBezTo>
                  <a:pt x="30877" y="208518"/>
                  <a:pt x="25559" y="195580"/>
                  <a:pt x="25559" y="182086"/>
                </a:cubicBezTo>
                <a:close/>
                <a:moveTo>
                  <a:pt x="139779" y="114300"/>
                </a:moveTo>
                <a:cubicBezTo>
                  <a:pt x="139779" y="100281"/>
                  <a:pt x="128398" y="88900"/>
                  <a:pt x="114379" y="88900"/>
                </a:cubicBezTo>
                <a:cubicBezTo>
                  <a:pt x="100361" y="88900"/>
                  <a:pt x="88979" y="100281"/>
                  <a:pt x="88979" y="114300"/>
                </a:cubicBezTo>
                <a:cubicBezTo>
                  <a:pt x="88979" y="128319"/>
                  <a:pt x="100361" y="139700"/>
                  <a:pt x="114379" y="139700"/>
                </a:cubicBezTo>
                <a:cubicBezTo>
                  <a:pt x="128398" y="139700"/>
                  <a:pt x="139779" y="128319"/>
                  <a:pt x="139779" y="11430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58674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Pricing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82000" y="6337300"/>
            <a:ext cx="685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Upfront cost clarity for all consultations and services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PHASE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Requirements Analysis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 System Modeling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Description, Requirements,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UML Diagrams &amp; System Context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Description &amp; Stakeholders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healthcare ecosystem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215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USERS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2667000"/>
            <a:ext cx="4699000" cy="2413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8225" y="2895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2895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16000" y="33528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Seeking consultations, prescriptions, and diagnostic services through an intuitive digital platform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15000" y="2667000"/>
            <a:ext cx="4699000" cy="2413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1225" y="2895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5556"/>
                </a:move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lose/>
                <a:moveTo>
                  <a:pt x="197247" y="222806"/>
                </a:moveTo>
                <a:cubicBezTo>
                  <a:pt x="193496" y="222458"/>
                  <a:pt x="189607" y="222250"/>
                  <a:pt x="185718" y="222250"/>
                </a:cubicBezTo>
                <a:lnTo>
                  <a:pt x="125363" y="222250"/>
                </a:lnTo>
                <a:cubicBezTo>
                  <a:pt x="121474" y="222250"/>
                  <a:pt x="117654" y="222458"/>
                  <a:pt x="113834" y="222806"/>
                </a:cubicBezTo>
                <a:lnTo>
                  <a:pt x="113834" y="269686"/>
                </a:lnTo>
                <a:cubicBezTo>
                  <a:pt x="125293" y="274965"/>
                  <a:pt x="133281" y="286564"/>
                  <a:pt x="133281" y="299968"/>
                </a:cubicBezTo>
                <a:cubicBezTo>
                  <a:pt x="133281" y="318373"/>
                  <a:pt x="118348" y="333306"/>
                  <a:pt x="99943" y="333306"/>
                </a:cubicBezTo>
                <a:cubicBezTo>
                  <a:pt x="81538" y="333306"/>
                  <a:pt x="66606" y="318373"/>
                  <a:pt x="66606" y="299968"/>
                </a:cubicBezTo>
                <a:cubicBezTo>
                  <a:pt x="66606" y="286494"/>
                  <a:pt x="74593" y="274895"/>
                  <a:pt x="86052" y="269686"/>
                </a:cubicBezTo>
                <a:lnTo>
                  <a:pt x="86052" y="229126"/>
                </a:lnTo>
                <a:cubicBezTo>
                  <a:pt x="42366" y="245170"/>
                  <a:pt x="11112" y="287258"/>
                  <a:pt x="11112" y="336570"/>
                </a:cubicBezTo>
                <a:cubicBezTo>
                  <a:pt x="11112" y="347057"/>
                  <a:pt x="19655" y="355600"/>
                  <a:pt x="30143" y="355600"/>
                </a:cubicBezTo>
                <a:lnTo>
                  <a:pt x="280938" y="355600"/>
                </a:lnTo>
                <a:cubicBezTo>
                  <a:pt x="291425" y="355600"/>
                  <a:pt x="299968" y="347057"/>
                  <a:pt x="299968" y="336570"/>
                </a:cubicBezTo>
                <a:cubicBezTo>
                  <a:pt x="299968" y="287258"/>
                  <a:pt x="268714" y="245239"/>
                  <a:pt x="224959" y="229195"/>
                </a:cubicBezTo>
                <a:lnTo>
                  <a:pt x="224959" y="255171"/>
                </a:lnTo>
                <a:cubicBezTo>
                  <a:pt x="241141" y="260866"/>
                  <a:pt x="252740" y="276354"/>
                  <a:pt x="252740" y="294481"/>
                </a:cubicBezTo>
                <a:lnTo>
                  <a:pt x="252740" y="316706"/>
                </a:lnTo>
                <a:cubicBezTo>
                  <a:pt x="252740" y="324346"/>
                  <a:pt x="246489" y="330597"/>
                  <a:pt x="238849" y="330597"/>
                </a:cubicBezTo>
                <a:cubicBezTo>
                  <a:pt x="231209" y="330597"/>
                  <a:pt x="224959" y="324346"/>
                  <a:pt x="224959" y="316706"/>
                </a:cubicBezTo>
                <a:lnTo>
                  <a:pt x="224959" y="294481"/>
                </a:lnTo>
                <a:cubicBezTo>
                  <a:pt x="224959" y="286841"/>
                  <a:pt x="218708" y="280591"/>
                  <a:pt x="211068" y="280591"/>
                </a:cubicBezTo>
                <a:cubicBezTo>
                  <a:pt x="203428" y="280591"/>
                  <a:pt x="197177" y="286841"/>
                  <a:pt x="197177" y="294481"/>
                </a:cubicBezTo>
                <a:lnTo>
                  <a:pt x="197177" y="316706"/>
                </a:lnTo>
                <a:cubicBezTo>
                  <a:pt x="197177" y="324346"/>
                  <a:pt x="190927" y="330597"/>
                  <a:pt x="183287" y="330597"/>
                </a:cubicBezTo>
                <a:cubicBezTo>
                  <a:pt x="175647" y="330597"/>
                  <a:pt x="169396" y="324346"/>
                  <a:pt x="169396" y="316706"/>
                </a:cubicBezTo>
                <a:lnTo>
                  <a:pt x="169396" y="294481"/>
                </a:lnTo>
                <a:cubicBezTo>
                  <a:pt x="169396" y="276354"/>
                  <a:pt x="180995" y="260935"/>
                  <a:pt x="197177" y="255171"/>
                </a:cubicBezTo>
                <a:lnTo>
                  <a:pt x="197177" y="222806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51600" y="2895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69000" y="33528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Licensed practitioners providing virtual consultations and electronic prescriptions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68000" y="2667000"/>
            <a:ext cx="4826000" cy="2413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2000" y="289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404600" y="2895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Administrators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22000" y="33528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managers overseeing operations, compliance, and user management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STAKEHOLDERS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2000" y="5905500"/>
            <a:ext cx="7112000" cy="2032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88900"/>
                </a:moveTo>
                <a:lnTo>
                  <a:pt x="0" y="111125"/>
                </a:lnTo>
                <a:lnTo>
                  <a:pt x="355600" y="111125"/>
                </a:ln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ubicBezTo>
                  <a:pt x="19933" y="44450"/>
                  <a:pt x="0" y="64383"/>
                  <a:pt x="0" y="88900"/>
                </a:cubicBezTo>
                <a:close/>
                <a:moveTo>
                  <a:pt x="0" y="144463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44463"/>
                </a:lnTo>
                <a:lnTo>
                  <a:pt x="0" y="144463"/>
                </a:lnTo>
                <a:close/>
                <a:moveTo>
                  <a:pt x="44450" y="250031"/>
                </a:moveTo>
                <a:cubicBezTo>
                  <a:pt x="44450" y="240794"/>
                  <a:pt x="51881" y="233363"/>
                  <a:pt x="61119" y="233363"/>
                </a:cubicBezTo>
                <a:lnTo>
                  <a:pt x="94456" y="233363"/>
                </a:lnTo>
                <a:cubicBezTo>
                  <a:pt x="103694" y="233363"/>
                  <a:pt x="111125" y="240794"/>
                  <a:pt x="111125" y="250031"/>
                </a:cubicBezTo>
                <a:cubicBezTo>
                  <a:pt x="111125" y="259269"/>
                  <a:pt x="103694" y="266700"/>
                  <a:pt x="94456" y="266700"/>
                </a:cubicBezTo>
                <a:lnTo>
                  <a:pt x="61119" y="266700"/>
                </a:lnTo>
                <a:cubicBezTo>
                  <a:pt x="51881" y="266700"/>
                  <a:pt x="44450" y="259269"/>
                  <a:pt x="44450" y="250031"/>
                </a:cubicBezTo>
                <a:close/>
                <a:moveTo>
                  <a:pt x="144463" y="250031"/>
                </a:moveTo>
                <a:cubicBezTo>
                  <a:pt x="144463" y="240794"/>
                  <a:pt x="151894" y="233363"/>
                  <a:pt x="161131" y="233363"/>
                </a:cubicBez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61131" y="266700"/>
                </a:lnTo>
                <a:cubicBezTo>
                  <a:pt x="151894" y="266700"/>
                  <a:pt x="144463" y="259269"/>
                  <a:pt x="144463" y="25003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" y="61595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Gateways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16000" y="6604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Third-party payment processors handling billing transactions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28000" y="5905500"/>
            <a:ext cx="7366000" cy="2032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2000" y="615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5785" y="3542"/>
                </a:moveTo>
                <a:cubicBezTo>
                  <a:pt x="173077" y="-1181"/>
                  <a:pt x="182523" y="-1181"/>
                  <a:pt x="189815" y="3542"/>
                </a:cubicBezTo>
                <a:lnTo>
                  <a:pt x="345390" y="103555"/>
                </a:lnTo>
                <a:cubicBezTo>
                  <a:pt x="353655" y="108903"/>
                  <a:pt x="357475" y="119043"/>
                  <a:pt x="354697" y="128488"/>
                </a:cubicBezTo>
                <a:cubicBezTo>
                  <a:pt x="351919" y="137934"/>
                  <a:pt x="343237" y="144463"/>
                  <a:pt x="333375" y="144463"/>
                </a:cubicBezTo>
                <a:lnTo>
                  <a:pt x="311150" y="144463"/>
                </a:lnTo>
                <a:lnTo>
                  <a:pt x="311150" y="288925"/>
                </a:lnTo>
                <a:lnTo>
                  <a:pt x="346710" y="315595"/>
                </a:lnTo>
                <a:cubicBezTo>
                  <a:pt x="352336" y="319762"/>
                  <a:pt x="355600" y="326360"/>
                  <a:pt x="355600" y="333375"/>
                </a:cubicBezTo>
                <a:cubicBezTo>
                  <a:pt x="355600" y="345668"/>
                  <a:pt x="345668" y="355600"/>
                  <a:pt x="333375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ubicBezTo>
                  <a:pt x="0" y="326360"/>
                  <a:pt x="3264" y="319762"/>
                  <a:pt x="8890" y="315595"/>
                </a:cubicBezTo>
                <a:lnTo>
                  <a:pt x="44450" y="288925"/>
                </a:lnTo>
                <a:lnTo>
                  <a:pt x="44450" y="288925"/>
                </a:lnTo>
                <a:lnTo>
                  <a:pt x="44450" y="144463"/>
                </a:lnTo>
                <a:lnTo>
                  <a:pt x="22225" y="144463"/>
                </a:lnTo>
                <a:cubicBezTo>
                  <a:pt x="12363" y="144463"/>
                  <a:pt x="3681" y="137934"/>
                  <a:pt x="903" y="128488"/>
                </a:cubicBezTo>
                <a:cubicBezTo>
                  <a:pt x="-1875" y="119043"/>
                  <a:pt x="1945" y="108833"/>
                  <a:pt x="10210" y="103555"/>
                </a:cubicBezTo>
                <a:lnTo>
                  <a:pt x="165785" y="3542"/>
                </a:lnTo>
                <a:close/>
                <a:moveTo>
                  <a:pt x="233363" y="144463"/>
                </a:moveTo>
                <a:lnTo>
                  <a:pt x="233363" y="288925"/>
                </a:lnTo>
                <a:lnTo>
                  <a:pt x="277813" y="288925"/>
                </a:lnTo>
                <a:lnTo>
                  <a:pt x="277813" y="144463"/>
                </a:lnTo>
                <a:lnTo>
                  <a:pt x="233363" y="144463"/>
                </a:lnTo>
                <a:close/>
                <a:moveTo>
                  <a:pt x="155575" y="288925"/>
                </a:moveTo>
                <a:lnTo>
                  <a:pt x="200025" y="288925"/>
                </a:lnTo>
                <a:lnTo>
                  <a:pt x="200025" y="144463"/>
                </a:lnTo>
                <a:lnTo>
                  <a:pt x="155575" y="144463"/>
                </a:lnTo>
                <a:lnTo>
                  <a:pt x="155575" y="288925"/>
                </a:lnTo>
                <a:close/>
                <a:moveTo>
                  <a:pt x="77788" y="144463"/>
                </a:moveTo>
                <a:lnTo>
                  <a:pt x="77788" y="288925"/>
                </a:lnTo>
                <a:lnTo>
                  <a:pt x="122238" y="288925"/>
                </a:lnTo>
                <a:lnTo>
                  <a:pt x="122238" y="144463"/>
                </a:lnTo>
                <a:lnTo>
                  <a:pt x="77788" y="14446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8864600" y="6159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Authorities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82000" y="66040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Healthcare bodies ensuring compliance and data protection standards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 — Part 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699000" cy="6477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1550" y="196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94456" y="88900"/>
                </a:moveTo>
                <a:cubicBezTo>
                  <a:pt x="94456" y="42901"/>
                  <a:pt x="131801" y="5556"/>
                  <a:pt x="177800" y="5556"/>
                </a:cubicBezTo>
                <a:cubicBezTo>
                  <a:pt x="223799" y="5556"/>
                  <a:pt x="261144" y="42901"/>
                  <a:pt x="261144" y="88900"/>
                </a:cubicBezTo>
                <a:cubicBezTo>
                  <a:pt x="261144" y="134899"/>
                  <a:pt x="223799" y="172244"/>
                  <a:pt x="177800" y="172244"/>
                </a:cubicBezTo>
                <a:cubicBezTo>
                  <a:pt x="131801" y="172244"/>
                  <a:pt x="94456" y="134899"/>
                  <a:pt x="94456" y="88900"/>
                </a:cubicBezTo>
                <a:close/>
                <a:moveTo>
                  <a:pt x="33337" y="334972"/>
                </a:moveTo>
                <a:cubicBezTo>
                  <a:pt x="33337" y="266561"/>
                  <a:pt x="88761" y="211138"/>
                  <a:pt x="157172" y="211138"/>
                </a:cubicBezTo>
                <a:lnTo>
                  <a:pt x="198428" y="211138"/>
                </a:lnTo>
                <a:cubicBezTo>
                  <a:pt x="266839" y="211138"/>
                  <a:pt x="322263" y="266561"/>
                  <a:pt x="322263" y="334972"/>
                </a:cubicBezTo>
                <a:cubicBezTo>
                  <a:pt x="322263" y="346363"/>
                  <a:pt x="313025" y="355600"/>
                  <a:pt x="301635" y="355600"/>
                </a:cubicBezTo>
                <a:lnTo>
                  <a:pt x="53965" y="355600"/>
                </a:lnTo>
                <a:cubicBezTo>
                  <a:pt x="42575" y="355600"/>
                  <a:pt x="33337" y="346363"/>
                  <a:pt x="33337" y="334972"/>
                </a:cubicBezTo>
                <a:close/>
                <a:moveTo>
                  <a:pt x="377825" y="66675"/>
                </a:moveTo>
                <a:cubicBezTo>
                  <a:pt x="387062" y="66675"/>
                  <a:pt x="394494" y="74106"/>
                  <a:pt x="394494" y="83344"/>
                </a:cubicBezTo>
                <a:lnTo>
                  <a:pt x="394494" y="116681"/>
                </a:lnTo>
                <a:lnTo>
                  <a:pt x="427831" y="116681"/>
                </a:lnTo>
                <a:cubicBezTo>
                  <a:pt x="437069" y="116681"/>
                  <a:pt x="444500" y="124113"/>
                  <a:pt x="444500" y="133350"/>
                </a:cubicBezTo>
                <a:cubicBezTo>
                  <a:pt x="444500" y="142587"/>
                  <a:pt x="437069" y="150019"/>
                  <a:pt x="427831" y="150019"/>
                </a:cubicBezTo>
                <a:lnTo>
                  <a:pt x="394494" y="150019"/>
                </a:lnTo>
                <a:lnTo>
                  <a:pt x="394494" y="183356"/>
                </a:lnTo>
                <a:cubicBezTo>
                  <a:pt x="394494" y="192594"/>
                  <a:pt x="387062" y="200025"/>
                  <a:pt x="377825" y="200025"/>
                </a:cubicBezTo>
                <a:cubicBezTo>
                  <a:pt x="368588" y="200025"/>
                  <a:pt x="361156" y="192594"/>
                  <a:pt x="361156" y="183356"/>
                </a:cubicBezTo>
                <a:lnTo>
                  <a:pt x="361156" y="150019"/>
                </a:lnTo>
                <a:lnTo>
                  <a:pt x="327819" y="150019"/>
                </a:lnTo>
                <a:cubicBezTo>
                  <a:pt x="318581" y="150019"/>
                  <a:pt x="311150" y="142587"/>
                  <a:pt x="311150" y="133350"/>
                </a:cubicBezTo>
                <a:cubicBezTo>
                  <a:pt x="311150" y="124113"/>
                  <a:pt x="318581" y="116681"/>
                  <a:pt x="327819" y="116681"/>
                </a:cubicBezTo>
                <a:lnTo>
                  <a:pt x="361156" y="116681"/>
                </a:lnTo>
                <a:lnTo>
                  <a:pt x="361156" y="83344"/>
                </a:lnTo>
                <a:cubicBezTo>
                  <a:pt x="361156" y="74106"/>
                  <a:pt x="368588" y="66675"/>
                  <a:pt x="377825" y="666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4511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Registration &amp; Auth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2895600"/>
            <a:ext cx="4191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Email and phone registration for patients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Secure login with multi-factor authentication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Doctor credential verification process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Role-based access control (Patient, Doctor, Admin)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1714500"/>
            <a:ext cx="4699000" cy="6477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1225" y="196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14193" y="158839"/>
                </a:moveTo>
                <a:cubicBezTo>
                  <a:pt x="219055" y="151061"/>
                  <a:pt x="216694" y="140781"/>
                  <a:pt x="208915" y="135850"/>
                </a:cubicBezTo>
                <a:cubicBezTo>
                  <a:pt x="201136" y="130919"/>
                  <a:pt x="190857" y="133350"/>
                  <a:pt x="185926" y="141129"/>
                </a:cubicBezTo>
                <a:lnTo>
                  <a:pt x="143282" y="209401"/>
                </a:lnTo>
                <a:lnTo>
                  <a:pt x="124529" y="184398"/>
                </a:lnTo>
                <a:cubicBezTo>
                  <a:pt x="118973" y="177036"/>
                  <a:pt x="108555" y="175508"/>
                  <a:pt x="101193" y="181064"/>
                </a:cubicBezTo>
                <a:cubicBezTo>
                  <a:pt x="93831" y="186621"/>
                  <a:pt x="92303" y="197039"/>
                  <a:pt x="97859" y="204401"/>
                </a:cubicBezTo>
                <a:lnTo>
                  <a:pt x="131197" y="248851"/>
                </a:lnTo>
                <a:cubicBezTo>
                  <a:pt x="134461" y="253226"/>
                  <a:pt x="139740" y="255726"/>
                  <a:pt x="145226" y="255518"/>
                </a:cubicBezTo>
                <a:cubicBezTo>
                  <a:pt x="150713" y="255310"/>
                  <a:pt x="155714" y="252393"/>
                  <a:pt x="158631" y="247670"/>
                </a:cubicBezTo>
                <a:lnTo>
                  <a:pt x="214193" y="15877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24511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Appointment Management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69000" y="2895600"/>
            <a:ext cx="4191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Doctor search by specialty and availability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Book available time slots in real-time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Reschedule and cancel appointments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Appointment reminders via SMS and email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0" y="1714500"/>
            <a:ext cx="4826000" cy="6477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99775" y="196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33337"/>
                </a:moveTo>
                <a:cubicBezTo>
                  <a:pt x="22225" y="14932"/>
                  <a:pt x="37157" y="0"/>
                  <a:pt x="55563" y="0"/>
                </a:cubicBezTo>
                <a:lnTo>
                  <a:pt x="88900" y="0"/>
                </a:lnTo>
                <a:cubicBezTo>
                  <a:pt x="101193" y="0"/>
                  <a:pt x="111125" y="9932"/>
                  <a:pt x="111125" y="22225"/>
                </a:cubicBezTo>
                <a:cubicBezTo>
                  <a:pt x="111125" y="34518"/>
                  <a:pt x="101193" y="44450"/>
                  <a:pt x="88900" y="44450"/>
                </a:cubicBezTo>
                <a:lnTo>
                  <a:pt x="66675" y="44450"/>
                </a:lnTo>
                <a:lnTo>
                  <a:pt x="66675" y="133350"/>
                </a:lnTo>
                <a:cubicBezTo>
                  <a:pt x="66675" y="170160"/>
                  <a:pt x="96540" y="200025"/>
                  <a:pt x="133350" y="200025"/>
                </a:cubicBezTo>
                <a:cubicBezTo>
                  <a:pt x="170160" y="200025"/>
                  <a:pt x="200025" y="170160"/>
                  <a:pt x="200025" y="133350"/>
                </a:cubicBezTo>
                <a:lnTo>
                  <a:pt x="200025" y="44450"/>
                </a:lnTo>
                <a:lnTo>
                  <a:pt x="177800" y="44450"/>
                </a:lnTo>
                <a:cubicBezTo>
                  <a:pt x="165507" y="44450"/>
                  <a:pt x="155575" y="34518"/>
                  <a:pt x="155575" y="22225"/>
                </a:cubicBezTo>
                <a:cubicBezTo>
                  <a:pt x="155575" y="9932"/>
                  <a:pt x="165507" y="0"/>
                  <a:pt x="177800" y="0"/>
                </a:cubicBezTo>
                <a:lnTo>
                  <a:pt x="211138" y="0"/>
                </a:lnTo>
                <a:cubicBezTo>
                  <a:pt x="229543" y="0"/>
                  <a:pt x="244475" y="14932"/>
                  <a:pt x="244475" y="33337"/>
                </a:cubicBezTo>
                <a:lnTo>
                  <a:pt x="244475" y="133350"/>
                </a:lnTo>
                <a:cubicBezTo>
                  <a:pt x="244475" y="187107"/>
                  <a:pt x="206276" y="231973"/>
                  <a:pt x="155575" y="242253"/>
                </a:cubicBezTo>
                <a:lnTo>
                  <a:pt x="155575" y="255587"/>
                </a:lnTo>
                <a:cubicBezTo>
                  <a:pt x="155575" y="298579"/>
                  <a:pt x="190371" y="333375"/>
                  <a:pt x="233363" y="333375"/>
                </a:cubicBezTo>
                <a:cubicBezTo>
                  <a:pt x="276354" y="333375"/>
                  <a:pt x="311150" y="298579"/>
                  <a:pt x="311150" y="255587"/>
                </a:cubicBezTo>
                <a:lnTo>
                  <a:pt x="311150" y="196205"/>
                </a:lnTo>
                <a:cubicBezTo>
                  <a:pt x="285244" y="187037"/>
                  <a:pt x="266700" y="162381"/>
                  <a:pt x="266700" y="133350"/>
                </a:cubicBezTo>
                <a:cubicBezTo>
                  <a:pt x="266700" y="96540"/>
                  <a:pt x="296565" y="66675"/>
                  <a:pt x="333375" y="66675"/>
                </a:cubicBezTo>
                <a:cubicBezTo>
                  <a:pt x="370185" y="66675"/>
                  <a:pt x="400050" y="96540"/>
                  <a:pt x="400050" y="133350"/>
                </a:cubicBezTo>
                <a:cubicBezTo>
                  <a:pt x="400050" y="162381"/>
                  <a:pt x="381506" y="187107"/>
                  <a:pt x="355600" y="196205"/>
                </a:cubicBezTo>
                <a:lnTo>
                  <a:pt x="355600" y="255587"/>
                </a:lnTo>
                <a:cubicBezTo>
                  <a:pt x="355600" y="323096"/>
                  <a:pt x="300871" y="377825"/>
                  <a:pt x="233363" y="377825"/>
                </a:cubicBezTo>
                <a:cubicBezTo>
                  <a:pt x="165854" y="377825"/>
                  <a:pt x="111125" y="323096"/>
                  <a:pt x="111125" y="255587"/>
                </a:cubicBezTo>
                <a:lnTo>
                  <a:pt x="111125" y="242253"/>
                </a:lnTo>
                <a:cubicBezTo>
                  <a:pt x="60424" y="231973"/>
                  <a:pt x="22225" y="187107"/>
                  <a:pt x="22225" y="133350"/>
                </a:cubicBezTo>
                <a:lnTo>
                  <a:pt x="22225" y="33337"/>
                </a:lnTo>
                <a:close/>
                <a:moveTo>
                  <a:pt x="333375" y="155575"/>
                </a:moveTo>
                <a:cubicBezTo>
                  <a:pt x="345641" y="155575"/>
                  <a:pt x="355600" y="145616"/>
                  <a:pt x="355600" y="133350"/>
                </a:cubicBezTo>
                <a:cubicBezTo>
                  <a:pt x="355600" y="121084"/>
                  <a:pt x="345641" y="111125"/>
                  <a:pt x="333375" y="111125"/>
                </a:cubicBezTo>
                <a:cubicBezTo>
                  <a:pt x="321109" y="111125"/>
                  <a:pt x="311150" y="121084"/>
                  <a:pt x="311150" y="133350"/>
                </a:cubicBezTo>
                <a:cubicBezTo>
                  <a:pt x="311150" y="145616"/>
                  <a:pt x="321109" y="155575"/>
                  <a:pt x="333375" y="1555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24511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Consultation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22000" y="2895600"/>
            <a:ext cx="4318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Video and chat support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Medical history access during consultation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240000" y="8565643"/>
            <a:ext cx="3008777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 — Part 2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699000" cy="6477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450" y="196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61119" y="133350"/>
                </a:moveTo>
                <a:cubicBezTo>
                  <a:pt x="51881" y="133350"/>
                  <a:pt x="44450" y="140781"/>
                  <a:pt x="44450" y="150019"/>
                </a:cubicBezTo>
                <a:lnTo>
                  <a:pt x="44450" y="250031"/>
                </a:lnTo>
                <a:cubicBezTo>
                  <a:pt x="44450" y="259269"/>
                  <a:pt x="51881" y="266700"/>
                  <a:pt x="61119" y="266700"/>
                </a:cubicBezTo>
                <a:cubicBezTo>
                  <a:pt x="70356" y="266700"/>
                  <a:pt x="77788" y="259269"/>
                  <a:pt x="77788" y="250031"/>
                </a:cubicBezTo>
                <a:lnTo>
                  <a:pt x="77788" y="222250"/>
                </a:lnTo>
                <a:lnTo>
                  <a:pt x="93414" y="222250"/>
                </a:lnTo>
                <a:lnTo>
                  <a:pt x="133975" y="260449"/>
                </a:lnTo>
                <a:lnTo>
                  <a:pt x="110778" y="282396"/>
                </a:lnTo>
                <a:cubicBezTo>
                  <a:pt x="104110" y="288717"/>
                  <a:pt x="103763" y="299274"/>
                  <a:pt x="110153" y="305941"/>
                </a:cubicBezTo>
                <a:cubicBezTo>
                  <a:pt x="116542" y="312609"/>
                  <a:pt x="127030" y="312956"/>
                  <a:pt x="133697" y="306566"/>
                </a:cubicBezTo>
                <a:lnTo>
                  <a:pt x="158284" y="283299"/>
                </a:lnTo>
                <a:lnTo>
                  <a:pt x="183009" y="306566"/>
                </a:lnTo>
                <a:cubicBezTo>
                  <a:pt x="189746" y="312886"/>
                  <a:pt x="200233" y="312539"/>
                  <a:pt x="206554" y="305872"/>
                </a:cubicBezTo>
                <a:cubicBezTo>
                  <a:pt x="212874" y="299204"/>
                  <a:pt x="212527" y="288647"/>
                  <a:pt x="205859" y="282327"/>
                </a:cubicBezTo>
                <a:lnTo>
                  <a:pt x="182523" y="260380"/>
                </a:lnTo>
                <a:lnTo>
                  <a:pt x="205859" y="238294"/>
                </a:lnTo>
                <a:cubicBezTo>
                  <a:pt x="212527" y="231973"/>
                  <a:pt x="212874" y="221417"/>
                  <a:pt x="206484" y="214749"/>
                </a:cubicBezTo>
                <a:cubicBezTo>
                  <a:pt x="200094" y="208082"/>
                  <a:pt x="189607" y="207734"/>
                  <a:pt x="182940" y="214124"/>
                </a:cubicBezTo>
                <a:lnTo>
                  <a:pt x="158145" y="237530"/>
                </a:lnTo>
                <a:lnTo>
                  <a:pt x="129738" y="210790"/>
                </a:lnTo>
                <a:cubicBezTo>
                  <a:pt x="138698" y="202664"/>
                  <a:pt x="144393" y="190927"/>
                  <a:pt x="144393" y="177800"/>
                </a:cubicBezTo>
                <a:cubicBezTo>
                  <a:pt x="144393" y="153283"/>
                  <a:pt x="124460" y="133350"/>
                  <a:pt x="99943" y="133350"/>
                </a:cubicBezTo>
                <a:lnTo>
                  <a:pt x="61049" y="133350"/>
                </a:lnTo>
                <a:close/>
                <a:moveTo>
                  <a:pt x="83344" y="188913"/>
                </a:moveTo>
                <a:lnTo>
                  <a:pt x="77788" y="188913"/>
                </a:lnTo>
                <a:lnTo>
                  <a:pt x="77788" y="166688"/>
                </a:lnTo>
                <a:lnTo>
                  <a:pt x="100013" y="166688"/>
                </a:lnTo>
                <a:cubicBezTo>
                  <a:pt x="106124" y="166688"/>
                  <a:pt x="111125" y="171688"/>
                  <a:pt x="111125" y="177800"/>
                </a:cubicBezTo>
                <a:cubicBezTo>
                  <a:pt x="111125" y="183912"/>
                  <a:pt x="106124" y="188913"/>
                  <a:pt x="100013" y="188913"/>
                </a:cubicBezTo>
                <a:lnTo>
                  <a:pt x="83344" y="18891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4511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Management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2895600"/>
            <a:ext cx="4191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Electronic prescription creation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Medication details and dosage tracking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Digital signature for authenticity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Prescription history and renewal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1714500"/>
            <a:ext cx="4699000" cy="6477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9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91425"/>
                </a:moveTo>
                <a:lnTo>
                  <a:pt x="0" y="76051"/>
                </a:lnTo>
                <a:cubicBezTo>
                  <a:pt x="0" y="59938"/>
                  <a:pt x="16738" y="49242"/>
                  <a:pt x="32157" y="53826"/>
                </a:cubicBezTo>
                <a:cubicBezTo>
                  <a:pt x="93067" y="72023"/>
                  <a:pt x="136128" y="57646"/>
                  <a:pt x="179467" y="43200"/>
                </a:cubicBezTo>
                <a:cubicBezTo>
                  <a:pt x="224264" y="28267"/>
                  <a:pt x="269339" y="13266"/>
                  <a:pt x="334556" y="34101"/>
                </a:cubicBezTo>
                <a:cubicBezTo>
                  <a:pt x="347405" y="38199"/>
                  <a:pt x="355600" y="50631"/>
                  <a:pt x="355600" y="64175"/>
                </a:cubicBezTo>
                <a:lnTo>
                  <a:pt x="355600" y="279549"/>
                </a:lnTo>
                <a:cubicBezTo>
                  <a:pt x="355600" y="295662"/>
                  <a:pt x="338862" y="306358"/>
                  <a:pt x="323513" y="301774"/>
                </a:cubicBezTo>
                <a:cubicBezTo>
                  <a:pt x="262602" y="283577"/>
                  <a:pt x="219472" y="297954"/>
                  <a:pt x="176203" y="312400"/>
                </a:cubicBezTo>
                <a:cubicBezTo>
                  <a:pt x="131405" y="327333"/>
                  <a:pt x="86330" y="342334"/>
                  <a:pt x="21114" y="321499"/>
                </a:cubicBezTo>
                <a:cubicBezTo>
                  <a:pt x="8265" y="317401"/>
                  <a:pt x="69" y="304969"/>
                  <a:pt x="69" y="291425"/>
                </a:cubicBezTo>
                <a:close/>
                <a:moveTo>
                  <a:pt x="233363" y="177800"/>
                </a:moveTo>
                <a:cubicBezTo>
                  <a:pt x="233363" y="140990"/>
                  <a:pt x="208498" y="111125"/>
                  <a:pt x="177800" y="111125"/>
                </a:cubicBezTo>
                <a:cubicBezTo>
                  <a:pt x="147102" y="111125"/>
                  <a:pt x="122238" y="140990"/>
                  <a:pt x="122238" y="177800"/>
                </a:cubicBezTo>
                <a:cubicBezTo>
                  <a:pt x="122238" y="214610"/>
                  <a:pt x="147102" y="244475"/>
                  <a:pt x="177800" y="244475"/>
                </a:cubicBezTo>
                <a:cubicBezTo>
                  <a:pt x="208498" y="244475"/>
                  <a:pt x="233363" y="214610"/>
                  <a:pt x="233363" y="177800"/>
                </a:cubicBezTo>
                <a:close/>
                <a:moveTo>
                  <a:pt x="83344" y="287258"/>
                </a:moveTo>
                <a:cubicBezTo>
                  <a:pt x="86400" y="287258"/>
                  <a:pt x="88831" y="284619"/>
                  <a:pt x="88344" y="281632"/>
                </a:cubicBezTo>
                <a:cubicBezTo>
                  <a:pt x="85150" y="262324"/>
                  <a:pt x="69592" y="247253"/>
                  <a:pt x="50006" y="244822"/>
                </a:cubicBezTo>
                <a:cubicBezTo>
                  <a:pt x="46950" y="244475"/>
                  <a:pt x="44450" y="246975"/>
                  <a:pt x="44450" y="250031"/>
                </a:cubicBezTo>
                <a:lnTo>
                  <a:pt x="44450" y="277743"/>
                </a:lnTo>
                <a:cubicBezTo>
                  <a:pt x="44450" y="280243"/>
                  <a:pt x="46117" y="282466"/>
                  <a:pt x="48617" y="283091"/>
                </a:cubicBezTo>
                <a:cubicBezTo>
                  <a:pt x="61049" y="286008"/>
                  <a:pt x="72440" y="287328"/>
                  <a:pt x="83344" y="287328"/>
                </a:cubicBezTo>
                <a:close/>
                <a:moveTo>
                  <a:pt x="304552" y="251768"/>
                </a:moveTo>
                <a:cubicBezTo>
                  <a:pt x="308025" y="252323"/>
                  <a:pt x="311150" y="249684"/>
                  <a:pt x="311150" y="246211"/>
                </a:cubicBezTo>
                <a:lnTo>
                  <a:pt x="311150" y="216624"/>
                </a:lnTo>
                <a:cubicBezTo>
                  <a:pt x="311150" y="213568"/>
                  <a:pt x="308650" y="210999"/>
                  <a:pt x="305594" y="211415"/>
                </a:cubicBezTo>
                <a:cubicBezTo>
                  <a:pt x="288092" y="213568"/>
                  <a:pt x="273715" y="225931"/>
                  <a:pt x="268645" y="242391"/>
                </a:cubicBezTo>
                <a:cubicBezTo>
                  <a:pt x="267672" y="245656"/>
                  <a:pt x="270242" y="248712"/>
                  <a:pt x="273645" y="248781"/>
                </a:cubicBezTo>
                <a:cubicBezTo>
                  <a:pt x="283508" y="249059"/>
                  <a:pt x="293787" y="249962"/>
                  <a:pt x="304483" y="251768"/>
                </a:cubicBezTo>
                <a:close/>
                <a:moveTo>
                  <a:pt x="311150" y="105569"/>
                </a:moveTo>
                <a:lnTo>
                  <a:pt x="311150" y="77857"/>
                </a:lnTo>
                <a:cubicBezTo>
                  <a:pt x="311150" y="75357"/>
                  <a:pt x="309414" y="73134"/>
                  <a:pt x="306983" y="72509"/>
                </a:cubicBezTo>
                <a:cubicBezTo>
                  <a:pt x="294551" y="69592"/>
                  <a:pt x="283160" y="68272"/>
                  <a:pt x="272256" y="68272"/>
                </a:cubicBezTo>
                <a:cubicBezTo>
                  <a:pt x="269200" y="68272"/>
                  <a:pt x="266769" y="70912"/>
                  <a:pt x="267256" y="73898"/>
                </a:cubicBezTo>
                <a:cubicBezTo>
                  <a:pt x="270450" y="93206"/>
                  <a:pt x="286008" y="108277"/>
                  <a:pt x="305594" y="110708"/>
                </a:cubicBezTo>
                <a:cubicBezTo>
                  <a:pt x="308650" y="111056"/>
                  <a:pt x="311150" y="108555"/>
                  <a:pt x="311150" y="105499"/>
                </a:cubicBezTo>
                <a:close/>
                <a:moveTo>
                  <a:pt x="86955" y="113139"/>
                </a:moveTo>
                <a:cubicBezTo>
                  <a:pt x="87928" y="109875"/>
                  <a:pt x="85358" y="106819"/>
                  <a:pt x="81955" y="106749"/>
                </a:cubicBezTo>
                <a:cubicBezTo>
                  <a:pt x="72092" y="106472"/>
                  <a:pt x="61813" y="105569"/>
                  <a:pt x="51117" y="103763"/>
                </a:cubicBezTo>
                <a:cubicBezTo>
                  <a:pt x="47645" y="103207"/>
                  <a:pt x="44519" y="105847"/>
                  <a:pt x="44519" y="109319"/>
                </a:cubicBezTo>
                <a:lnTo>
                  <a:pt x="44450" y="138906"/>
                </a:lnTo>
                <a:cubicBezTo>
                  <a:pt x="44450" y="141962"/>
                  <a:pt x="46950" y="144532"/>
                  <a:pt x="50006" y="144115"/>
                </a:cubicBezTo>
                <a:cubicBezTo>
                  <a:pt x="67508" y="141962"/>
                  <a:pt x="81885" y="129600"/>
                  <a:pt x="86955" y="11313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24511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&amp; Billing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69000" y="2895600"/>
            <a:ext cx="4191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Invoice generation per consultation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payment methods supported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Receipt and refund management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Transparent fee breakdown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0" y="1714500"/>
            <a:ext cx="4826000" cy="6477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200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24511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Records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22000" y="2895600"/>
            <a:ext cx="4318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Electronic health records (EHR)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Document uploads and management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Role-based access control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 — Part 3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7112000" cy="4826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225" y="196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19685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24765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Email and SMS alerts for key events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In-app messaging between users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Appointment reminders and confirmations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Medication dosage reminders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8000" y="1714500"/>
            <a:ext cx="7366000" cy="4826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7550" y="196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8864600" y="1968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Administrative Functions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82000" y="24765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Doctor credential verification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 account management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monitoring and analytics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Report generation and export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6858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7048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functional requirements are designed to ensure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seamless healthcare delivery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every touchpoint — from patient registration through administrative oversight.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Ensuring reliable and efficient healthcare delivery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159000"/>
            <a:ext cx="14732000" cy="2540000"/>
          </a:xfrm>
          <a:prstGeom prst="roundRect">
            <a:avLst>
              <a:gd name="adj" fmla="val 4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234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REQUIREMENTS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16000" y="2794000"/>
            <a:ext cx="1422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 Data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Patients (personal info, medical history, allergies), Doctors (license, specialization, fees), Admins (name, email, role, access level)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Appointment &amp; Prescription Data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Patient/doctor IDs, date/time, consultation type, status, fees, medication details, dosage, frequency, digital signature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01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ATTRIBUTES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2000" y="55245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77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27781"/>
                </a:moveTo>
                <a:cubicBezTo>
                  <a:pt x="88900" y="12432"/>
                  <a:pt x="101332" y="0"/>
                  <a:pt x="116681" y="0"/>
                </a:cubicBezTo>
                <a:cubicBezTo>
                  <a:pt x="132030" y="0"/>
                  <a:pt x="144463" y="12432"/>
                  <a:pt x="144463" y="27781"/>
                </a:cubicBezTo>
                <a:lnTo>
                  <a:pt x="144463" y="130711"/>
                </a:lnTo>
                <a:cubicBezTo>
                  <a:pt x="150366" y="125432"/>
                  <a:pt x="158145" y="122238"/>
                  <a:pt x="166688" y="122238"/>
                </a:cubicBezTo>
                <a:cubicBezTo>
                  <a:pt x="180995" y="122238"/>
                  <a:pt x="193219" y="131266"/>
                  <a:pt x="197941" y="143907"/>
                </a:cubicBezTo>
                <a:cubicBezTo>
                  <a:pt x="204053" y="137448"/>
                  <a:pt x="212665" y="133350"/>
                  <a:pt x="222250" y="133350"/>
                </a:cubicBezTo>
                <a:cubicBezTo>
                  <a:pt x="239822" y="133350"/>
                  <a:pt x="254198" y="146893"/>
                  <a:pt x="255518" y="164118"/>
                </a:cubicBezTo>
                <a:cubicBezTo>
                  <a:pt x="261422" y="158770"/>
                  <a:pt x="269270" y="155575"/>
                  <a:pt x="277813" y="155575"/>
                </a:cubicBezTo>
                <a:cubicBezTo>
                  <a:pt x="296218" y="155575"/>
                  <a:pt x="311150" y="170507"/>
                  <a:pt x="311150" y="188913"/>
                </a:cubicBezTo>
                <a:lnTo>
                  <a:pt x="311150" y="266700"/>
                </a:lnTo>
                <a:cubicBezTo>
                  <a:pt x="311150" y="315803"/>
                  <a:pt x="271353" y="355600"/>
                  <a:pt x="222250" y="355600"/>
                </a:cubicBezTo>
                <a:lnTo>
                  <a:pt x="163006" y="355600"/>
                </a:lnTo>
                <a:cubicBezTo>
                  <a:pt x="159534" y="355600"/>
                  <a:pt x="156131" y="355392"/>
                  <a:pt x="152797" y="354905"/>
                </a:cubicBezTo>
                <a:cubicBezTo>
                  <a:pt x="114389" y="351016"/>
                  <a:pt x="79038" y="331291"/>
                  <a:pt x="55563" y="300038"/>
                </a:cubicBezTo>
                <a:lnTo>
                  <a:pt x="5556" y="233363"/>
                </a:lnTo>
                <a:cubicBezTo>
                  <a:pt x="-3681" y="221069"/>
                  <a:pt x="-1181" y="203706"/>
                  <a:pt x="11112" y="194469"/>
                </a:cubicBezTo>
                <a:cubicBezTo>
                  <a:pt x="23406" y="185231"/>
                  <a:pt x="40769" y="187732"/>
                  <a:pt x="50006" y="200025"/>
                </a:cubicBezTo>
                <a:lnTo>
                  <a:pt x="88900" y="251906"/>
                </a:lnTo>
                <a:lnTo>
                  <a:pt x="88900" y="27781"/>
                </a:lnTo>
                <a:close/>
                <a:moveTo>
                  <a:pt x="166688" y="211138"/>
                </a:moveTo>
                <a:cubicBezTo>
                  <a:pt x="166688" y="205026"/>
                  <a:pt x="161687" y="200025"/>
                  <a:pt x="155575" y="200025"/>
                </a:cubicBezTo>
                <a:cubicBezTo>
                  <a:pt x="149463" y="200025"/>
                  <a:pt x="144463" y="205026"/>
                  <a:pt x="144463" y="211138"/>
                </a:cubicBezTo>
                <a:lnTo>
                  <a:pt x="144463" y="277813"/>
                </a:lnTo>
                <a:cubicBezTo>
                  <a:pt x="144463" y="283924"/>
                  <a:pt x="149463" y="288925"/>
                  <a:pt x="155575" y="288925"/>
                </a:cubicBezTo>
                <a:cubicBezTo>
                  <a:pt x="161687" y="288925"/>
                  <a:pt x="166688" y="283924"/>
                  <a:pt x="166688" y="277813"/>
                </a:cubicBezTo>
                <a:lnTo>
                  <a:pt x="166688" y="211138"/>
                </a:lnTo>
                <a:close/>
                <a:moveTo>
                  <a:pt x="200025" y="200025"/>
                </a:moveTo>
                <a:cubicBezTo>
                  <a:pt x="193913" y="200025"/>
                  <a:pt x="188913" y="205026"/>
                  <a:pt x="188913" y="211138"/>
                </a:cubicBezTo>
                <a:lnTo>
                  <a:pt x="188913" y="277813"/>
                </a:lnTo>
                <a:cubicBezTo>
                  <a:pt x="188913" y="283924"/>
                  <a:pt x="193913" y="288925"/>
                  <a:pt x="200025" y="288925"/>
                </a:cubicBezTo>
                <a:cubicBezTo>
                  <a:pt x="206137" y="288925"/>
                  <a:pt x="211138" y="283924"/>
                  <a:pt x="211138" y="277813"/>
                </a:cubicBezTo>
                <a:lnTo>
                  <a:pt x="211138" y="211138"/>
                </a:lnTo>
                <a:cubicBezTo>
                  <a:pt x="211138" y="205026"/>
                  <a:pt x="206137" y="200025"/>
                  <a:pt x="200025" y="200025"/>
                </a:cubicBezTo>
                <a:close/>
                <a:moveTo>
                  <a:pt x="255587" y="211138"/>
                </a:moveTo>
                <a:cubicBezTo>
                  <a:pt x="255587" y="205026"/>
                  <a:pt x="250587" y="200025"/>
                  <a:pt x="244475" y="200025"/>
                </a:cubicBezTo>
                <a:cubicBezTo>
                  <a:pt x="238363" y="200025"/>
                  <a:pt x="233363" y="205026"/>
                  <a:pt x="233363" y="211138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cubicBezTo>
                  <a:pt x="250587" y="288925"/>
                  <a:pt x="255587" y="283924"/>
                  <a:pt x="255587" y="277813"/>
                </a:cubicBezTo>
                <a:lnTo>
                  <a:pt x="255587" y="211138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2611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Usability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6000" y="6705600"/>
            <a:ext cx="292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Intuitive interface for all user types and technical skill levels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45000" y="55245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3450" y="577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4699000" y="62611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Privacy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9000" y="6705600"/>
            <a:ext cx="292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Authentication, authorization, and encryption for sensitive medical data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28000" y="5524500"/>
            <a:ext cx="3429000" cy="2667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820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62611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82000" y="6705600"/>
            <a:ext cx="2921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 booking, real-time notifications, quick record access, minimal loading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811000" y="5524500"/>
            <a:ext cx="3683000" cy="2667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87225" y="577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9932" y="133350"/>
                  <a:pt x="22225" y="133350"/>
                </a:cubicBezTo>
                <a:cubicBezTo>
                  <a:pt x="34518" y="133350"/>
                  <a:pt x="44450" y="123418"/>
                  <a:pt x="44450" y="111125"/>
                </a:cubicBezTo>
                <a:lnTo>
                  <a:pt x="44450" y="66675"/>
                </a:lnTo>
                <a:lnTo>
                  <a:pt x="88900" y="66675"/>
                </a:lnTo>
                <a:cubicBezTo>
                  <a:pt x="101193" y="66675"/>
                  <a:pt x="111125" y="56743"/>
                  <a:pt x="111125" y="44450"/>
                </a:cubicBezTo>
                <a:cubicBezTo>
                  <a:pt x="111125" y="32157"/>
                  <a:pt x="101193" y="22225"/>
                  <a:pt x="88900" y="22225"/>
                </a:cubicBezTo>
                <a:lnTo>
                  <a:pt x="22225" y="22225"/>
                </a:lnTo>
                <a:close/>
                <a:moveTo>
                  <a:pt x="44450" y="244475"/>
                </a:moveTo>
                <a:cubicBezTo>
                  <a:pt x="44450" y="232182"/>
                  <a:pt x="34518" y="222250"/>
                  <a:pt x="22225" y="222250"/>
                </a:cubicBezTo>
                <a:cubicBezTo>
                  <a:pt x="9932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cubicBezTo>
                  <a:pt x="111125" y="298857"/>
                  <a:pt x="101193" y="288925"/>
                  <a:pt x="88900" y="288925"/>
                </a:cubicBez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222250" y="22225"/>
                </a:moveTo>
                <a:cubicBezTo>
                  <a:pt x="209957" y="22225"/>
                  <a:pt x="200025" y="32157"/>
                  <a:pt x="200025" y="44450"/>
                </a:cubicBezTo>
                <a:cubicBezTo>
                  <a:pt x="200025" y="56743"/>
                  <a:pt x="209957" y="66675"/>
                  <a:pt x="222250" y="66675"/>
                </a:cubicBezTo>
                <a:lnTo>
                  <a:pt x="266700" y="66675"/>
                </a:lnTo>
                <a:lnTo>
                  <a:pt x="266700" y="111125"/>
                </a:lnTo>
                <a:cubicBezTo>
                  <a:pt x="266700" y="123418"/>
                  <a:pt x="276632" y="133350"/>
                  <a:pt x="288925" y="133350"/>
                </a:cubicBezTo>
                <a:cubicBezTo>
                  <a:pt x="301218" y="133350"/>
                  <a:pt x="311150" y="123418"/>
                  <a:pt x="311150" y="111125"/>
                </a:cubicBezTo>
                <a:lnTo>
                  <a:pt x="311150" y="44450"/>
                </a:lnTo>
                <a:cubicBezTo>
                  <a:pt x="311150" y="32157"/>
                  <a:pt x="301218" y="22225"/>
                  <a:pt x="288925" y="22225"/>
                </a:cubicBezTo>
                <a:lnTo>
                  <a:pt x="222250" y="22225"/>
                </a:lnTo>
                <a:close/>
                <a:moveTo>
                  <a:pt x="311150" y="244475"/>
                </a:moveTo>
                <a:cubicBezTo>
                  <a:pt x="311150" y="232182"/>
                  <a:pt x="301218" y="222250"/>
                  <a:pt x="288925" y="222250"/>
                </a:cubicBezTo>
                <a:cubicBezTo>
                  <a:pt x="276632" y="222250"/>
                  <a:pt x="266700" y="232182"/>
                  <a:pt x="266700" y="244475"/>
                </a:cubicBezTo>
                <a:lnTo>
                  <a:pt x="266700" y="288925"/>
                </a:lnTo>
                <a:lnTo>
                  <a:pt x="222250" y="288925"/>
                </a:lnTo>
                <a:cubicBezTo>
                  <a:pt x="209957" y="288925"/>
                  <a:pt x="200025" y="298857"/>
                  <a:pt x="200025" y="311150"/>
                </a:cubicBezTo>
                <a:cubicBezTo>
                  <a:pt x="200025" y="323443"/>
                  <a:pt x="209957" y="333375"/>
                  <a:pt x="22225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447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2065000" y="62611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Compatibility &amp; Scale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065000" y="6705600"/>
            <a:ext cx="31750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Multi-platform support, hospital integration, scalable architecture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8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86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232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8600" y="76200"/>
                </a:moveTo>
                <a:cubicBezTo>
                  <a:pt x="228600" y="55126"/>
                  <a:pt x="245626" y="38100"/>
                  <a:pt x="266700" y="38100"/>
                </a:cubicBezTo>
                <a:lnTo>
                  <a:pt x="342900" y="38100"/>
                </a:lnTo>
                <a:cubicBezTo>
                  <a:pt x="363974" y="38100"/>
                  <a:pt x="381000" y="55126"/>
                  <a:pt x="381000" y="76200"/>
                </a:cubicBezTo>
                <a:lnTo>
                  <a:pt x="381000" y="152400"/>
                </a:lnTo>
                <a:cubicBezTo>
                  <a:pt x="381000" y="173474"/>
                  <a:pt x="363974" y="190500"/>
                  <a:pt x="342900" y="190500"/>
                </a:cubicBezTo>
                <a:lnTo>
                  <a:pt x="333375" y="190500"/>
                </a:lnTo>
                <a:lnTo>
                  <a:pt x="333375" y="266700"/>
                </a:lnTo>
                <a:lnTo>
                  <a:pt x="476250" y="266700"/>
                </a:lnTo>
                <a:cubicBezTo>
                  <a:pt x="523637" y="266700"/>
                  <a:pt x="561975" y="305038"/>
                  <a:pt x="561975" y="352425"/>
                </a:cubicBezTo>
                <a:lnTo>
                  <a:pt x="561975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lnTo>
                  <a:pt x="609600" y="533400"/>
                </a:lnTo>
                <a:cubicBezTo>
                  <a:pt x="609600" y="554474"/>
                  <a:pt x="592574" y="571500"/>
                  <a:pt x="571500" y="571500"/>
                </a:cubicBezTo>
                <a:lnTo>
                  <a:pt x="495300" y="571500"/>
                </a:lnTo>
                <a:cubicBezTo>
                  <a:pt x="474226" y="571500"/>
                  <a:pt x="457200" y="554474"/>
                  <a:pt x="457200" y="533400"/>
                </a:cubicBezTo>
                <a:lnTo>
                  <a:pt x="457200" y="457200"/>
                </a:lnTo>
                <a:cubicBezTo>
                  <a:pt x="457200" y="436126"/>
                  <a:pt x="474226" y="419100"/>
                  <a:pt x="495300" y="419100"/>
                </a:cubicBezTo>
                <a:lnTo>
                  <a:pt x="504825" y="419100"/>
                </a:lnTo>
                <a:lnTo>
                  <a:pt x="504825" y="352425"/>
                </a:lnTo>
                <a:cubicBezTo>
                  <a:pt x="504825" y="336590"/>
                  <a:pt x="492085" y="323850"/>
                  <a:pt x="476250" y="323850"/>
                </a:cubicBezTo>
                <a:lnTo>
                  <a:pt x="333375" y="323850"/>
                </a:lnTo>
                <a:lnTo>
                  <a:pt x="333375" y="419100"/>
                </a:lnTo>
                <a:lnTo>
                  <a:pt x="342900" y="419100"/>
                </a:lnTo>
                <a:cubicBezTo>
                  <a:pt x="363974" y="419100"/>
                  <a:pt x="381000" y="436126"/>
                  <a:pt x="381000" y="457200"/>
                </a:cubicBezTo>
                <a:lnTo>
                  <a:pt x="381000" y="533400"/>
                </a:lnTo>
                <a:cubicBezTo>
                  <a:pt x="381000" y="554474"/>
                  <a:pt x="363974" y="571500"/>
                  <a:pt x="342900" y="571500"/>
                </a:cubicBezTo>
                <a:lnTo>
                  <a:pt x="266700" y="571500"/>
                </a:lnTo>
                <a:cubicBezTo>
                  <a:pt x="245626" y="571500"/>
                  <a:pt x="228600" y="554474"/>
                  <a:pt x="228600" y="533400"/>
                </a:cubicBezTo>
                <a:lnTo>
                  <a:pt x="228600" y="457200"/>
                </a:lnTo>
                <a:cubicBezTo>
                  <a:pt x="228600" y="436126"/>
                  <a:pt x="245626" y="419100"/>
                  <a:pt x="266700" y="419100"/>
                </a:cubicBezTo>
                <a:lnTo>
                  <a:pt x="276225" y="419100"/>
                </a:lnTo>
                <a:lnTo>
                  <a:pt x="276225" y="323850"/>
                </a:lnTo>
                <a:lnTo>
                  <a:pt x="133350" y="323850"/>
                </a:lnTo>
                <a:cubicBezTo>
                  <a:pt x="117515" y="323850"/>
                  <a:pt x="104775" y="336590"/>
                  <a:pt x="104775" y="352425"/>
                </a:cubicBezTo>
                <a:lnTo>
                  <a:pt x="104775" y="419100"/>
                </a:lnTo>
                <a:lnTo>
                  <a:pt x="114300" y="419100"/>
                </a:lnTo>
                <a:cubicBezTo>
                  <a:pt x="135374" y="419100"/>
                  <a:pt x="152400" y="436126"/>
                  <a:pt x="152400" y="457200"/>
                </a:cubicBezTo>
                <a:lnTo>
                  <a:pt x="152400" y="533400"/>
                </a:lnTo>
                <a:cubicBezTo>
                  <a:pt x="152400" y="554474"/>
                  <a:pt x="135374" y="571500"/>
                  <a:pt x="114300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57200"/>
                </a:lnTo>
                <a:cubicBezTo>
                  <a:pt x="0" y="436126"/>
                  <a:pt x="17026" y="419100"/>
                  <a:pt x="38100" y="419100"/>
                </a:cubicBezTo>
                <a:lnTo>
                  <a:pt x="47625" y="419100"/>
                </a:lnTo>
                <a:lnTo>
                  <a:pt x="47625" y="352425"/>
                </a:lnTo>
                <a:cubicBezTo>
                  <a:pt x="47625" y="305038"/>
                  <a:pt x="85963" y="266700"/>
                  <a:pt x="133350" y="266700"/>
                </a:cubicBezTo>
                <a:lnTo>
                  <a:pt x="276225" y="266700"/>
                </a:lnTo>
                <a:lnTo>
                  <a:pt x="276225" y="190500"/>
                </a:lnTo>
                <a:lnTo>
                  <a:pt x="266700" y="190500"/>
                </a:lnTo>
                <a:cubicBezTo>
                  <a:pt x="245626" y="190500"/>
                  <a:pt x="228600" y="173474"/>
                  <a:pt x="228600" y="152400"/>
                </a:cubicBezTo>
                <a:lnTo>
                  <a:pt x="228600" y="762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048000" y="3619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000" y="4318000"/>
            <a:ext cx="1117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Actors: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Patient, Doctor, Administrator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Cases: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Register, Book Appointment, Consult, View Records, Manage Prescriptions, Verify Doctors, Generate Reports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Insert your Use Case Diagram here 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400" dirty="0"/>
          </a:p>
        </p:txBody>
      </p:sp>
      <p:pic>
        <p:nvPicPr>
          <p:cNvPr id="18" name="Image 0" descr="https://kimi-img.moonshot.cn/pub/slides/26-06-03-10:51:49-d8fpdh8v0256dqlv8qk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34" y="1782436"/>
            <a:ext cx="5295403" cy="6536064"/>
          </a:xfrm>
          <a:prstGeom prst="rect">
            <a:avLst/>
          </a:prstGeom>
        </p:spPr>
      </p:pic>
      <p:pic>
        <p:nvPicPr>
          <p:cNvPr id="19" name="Image 1" descr="https://kimi-img.moonshot.cn/pub/slides/26-06-03-10:52:24-d8fpdq76rtp956c5cu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99" y="1714500"/>
            <a:ext cx="5565109" cy="6604000"/>
          </a:xfrm>
          <a:prstGeom prst="rect">
            <a:avLst/>
          </a:prstGeom>
        </p:spPr>
      </p:pic>
      <p:pic>
        <p:nvPicPr>
          <p:cNvPr id="20" name="Image 2" descr="https://kimi-img.moonshot.cn/pub/slides/26-06-03-10:53:06-d8fpe4krhklf4rl536g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621" y="1714500"/>
            <a:ext cx="4913255" cy="660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Relationship Diagram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272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8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86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1300" y="2794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0" y="36195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RELATIONSHIP DIAGRAM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43180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Entities: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User, Patient, Doctor, Admin, Appointment, Consultation,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Prescription, Medication, Payment, HealthRecord, Notification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Insert your ERD here 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400" dirty="0"/>
          </a:p>
        </p:txBody>
      </p:sp>
      <p:pic>
        <p:nvPicPr>
          <p:cNvPr id="18" name="Image 0" descr="https://kimi-img.moonshot.cn/pub/slides/26-06-03-10:53:38-d8fpecn6rtp956c5e1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727200"/>
            <a:ext cx="14902529" cy="6694207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8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86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232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95250"/>
                </a:moveTo>
                <a:cubicBezTo>
                  <a:pt x="0" y="63698"/>
                  <a:pt x="25598" y="38100"/>
                  <a:pt x="57150" y="38100"/>
                </a:cubicBezTo>
                <a:lnTo>
                  <a:pt x="171450" y="38100"/>
                </a:lnTo>
                <a:cubicBezTo>
                  <a:pt x="203002" y="38100"/>
                  <a:pt x="228600" y="63698"/>
                  <a:pt x="228600" y="95250"/>
                </a:cubicBezTo>
                <a:lnTo>
                  <a:pt x="228600" y="114300"/>
                </a:lnTo>
                <a:lnTo>
                  <a:pt x="381000" y="114300"/>
                </a:lnTo>
                <a:lnTo>
                  <a:pt x="381000" y="95250"/>
                </a:lnTo>
                <a:cubicBezTo>
                  <a:pt x="381000" y="63698"/>
                  <a:pt x="406598" y="38100"/>
                  <a:pt x="43815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209550"/>
                </a:lnTo>
                <a:cubicBezTo>
                  <a:pt x="609600" y="241102"/>
                  <a:pt x="584002" y="266700"/>
                  <a:pt x="552450" y="266700"/>
                </a:cubicBezTo>
                <a:lnTo>
                  <a:pt x="438150" y="266700"/>
                </a:lnTo>
                <a:cubicBezTo>
                  <a:pt x="406598" y="266700"/>
                  <a:pt x="381000" y="241102"/>
                  <a:pt x="381000" y="209550"/>
                </a:cubicBezTo>
                <a:lnTo>
                  <a:pt x="381000" y="190500"/>
                </a:lnTo>
                <a:lnTo>
                  <a:pt x="228600" y="190500"/>
                </a:lnTo>
                <a:lnTo>
                  <a:pt x="228600" y="209550"/>
                </a:lnTo>
                <a:cubicBezTo>
                  <a:pt x="228600" y="218242"/>
                  <a:pt x="226576" y="226576"/>
                  <a:pt x="223123" y="233958"/>
                </a:cubicBezTo>
                <a:lnTo>
                  <a:pt x="304800" y="342900"/>
                </a:lnTo>
                <a:lnTo>
                  <a:pt x="400050" y="342900"/>
                </a:lnTo>
                <a:cubicBezTo>
                  <a:pt x="431602" y="342900"/>
                  <a:pt x="457200" y="368498"/>
                  <a:pt x="457200" y="400050"/>
                </a:cubicBezTo>
                <a:lnTo>
                  <a:pt x="457200" y="514350"/>
                </a:lnTo>
                <a:cubicBezTo>
                  <a:pt x="457200" y="545902"/>
                  <a:pt x="431602" y="571500"/>
                  <a:pt x="400050" y="571500"/>
                </a:cubicBezTo>
                <a:lnTo>
                  <a:pt x="285750" y="571500"/>
                </a:lnTo>
                <a:cubicBezTo>
                  <a:pt x="254198" y="571500"/>
                  <a:pt x="228600" y="545902"/>
                  <a:pt x="228600" y="514350"/>
                </a:cubicBezTo>
                <a:lnTo>
                  <a:pt x="228600" y="400050"/>
                </a:lnTo>
                <a:cubicBezTo>
                  <a:pt x="228600" y="391358"/>
                  <a:pt x="230624" y="383024"/>
                  <a:pt x="234077" y="375642"/>
                </a:cubicBezTo>
                <a:lnTo>
                  <a:pt x="152400" y="266700"/>
                </a:lnTo>
                <a:lnTo>
                  <a:pt x="57150" y="266700"/>
                </a:lnTo>
                <a:cubicBezTo>
                  <a:pt x="25598" y="266700"/>
                  <a:pt x="0" y="241102"/>
                  <a:pt x="0" y="2095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56000" y="3619500"/>
            <a:ext cx="914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000" y="4318000"/>
            <a:ext cx="1117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Classes: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 (Patient, Doctor, Admin), Appointment, Consultation,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Prescription, Medication, Payment, HealthRecord, Notification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Insert your Class Diagram here 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25/52</a:t>
            </a:r>
            <a:endParaRPr lang="en-US" sz="1400" dirty="0"/>
          </a:p>
        </p:txBody>
      </p:sp>
      <p:pic>
        <p:nvPicPr>
          <p:cNvPr id="18" name="Image 0" descr="https://kimi-img.moonshot.cn/pub/slides/26-06-03-10:54:15-d8fpelu1bb2ucauto6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71" y="748168"/>
            <a:ext cx="14919329" cy="8299183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Diagram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8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86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23200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15992" y="125492"/>
                </a:moveTo>
                <a:lnTo>
                  <a:pt x="430292" y="11192"/>
                </a:lnTo>
                <a:cubicBezTo>
                  <a:pt x="445175" y="-3691"/>
                  <a:pt x="469344" y="-3691"/>
                  <a:pt x="484227" y="11192"/>
                </a:cubicBezTo>
                <a:lnTo>
                  <a:pt x="598527" y="125492"/>
                </a:lnTo>
                <a:cubicBezTo>
                  <a:pt x="613410" y="140375"/>
                  <a:pt x="613410" y="164544"/>
                  <a:pt x="598527" y="179427"/>
                </a:cubicBezTo>
                <a:cubicBezTo>
                  <a:pt x="583644" y="194310"/>
                  <a:pt x="559475" y="194310"/>
                  <a:pt x="544592" y="179427"/>
                </a:cubicBezTo>
                <a:lnTo>
                  <a:pt x="495300" y="130135"/>
                </a:lnTo>
                <a:lnTo>
                  <a:pt x="495300" y="266700"/>
                </a:lnTo>
                <a:lnTo>
                  <a:pt x="571500" y="266700"/>
                </a:lnTo>
                <a:cubicBezTo>
                  <a:pt x="592574" y="266700"/>
                  <a:pt x="609600" y="283726"/>
                  <a:pt x="609600" y="304800"/>
                </a:cubicBezTo>
                <a:cubicBezTo>
                  <a:pt x="609600" y="325874"/>
                  <a:pt x="592574" y="342900"/>
                  <a:pt x="571500" y="342900"/>
                </a:cubicBezTo>
                <a:lnTo>
                  <a:pt x="190500" y="342900"/>
                </a:lnTo>
                <a:lnTo>
                  <a:pt x="190500" y="479465"/>
                </a:lnTo>
                <a:lnTo>
                  <a:pt x="239792" y="430173"/>
                </a:lnTo>
                <a:cubicBezTo>
                  <a:pt x="254675" y="415290"/>
                  <a:pt x="278844" y="415290"/>
                  <a:pt x="293727" y="430173"/>
                </a:cubicBezTo>
                <a:cubicBezTo>
                  <a:pt x="308610" y="445056"/>
                  <a:pt x="308610" y="469225"/>
                  <a:pt x="293727" y="484108"/>
                </a:cubicBezTo>
                <a:lnTo>
                  <a:pt x="179427" y="598408"/>
                </a:lnTo>
                <a:cubicBezTo>
                  <a:pt x="164544" y="613291"/>
                  <a:pt x="140375" y="613291"/>
                  <a:pt x="125492" y="598408"/>
                </a:cubicBezTo>
                <a:lnTo>
                  <a:pt x="11192" y="484108"/>
                </a:lnTo>
                <a:cubicBezTo>
                  <a:pt x="-3691" y="469225"/>
                  <a:pt x="-3691" y="445056"/>
                  <a:pt x="11192" y="430173"/>
                </a:cubicBezTo>
                <a:cubicBezTo>
                  <a:pt x="26075" y="415290"/>
                  <a:pt x="50244" y="415290"/>
                  <a:pt x="65127" y="430173"/>
                </a:cubicBezTo>
                <a:lnTo>
                  <a:pt x="114300" y="479465"/>
                </a:lnTo>
                <a:lnTo>
                  <a:pt x="114300" y="342900"/>
                </a:lnTo>
                <a:lnTo>
                  <a:pt x="38100" y="342900"/>
                </a:lnTo>
                <a:cubicBezTo>
                  <a:pt x="17026" y="342900"/>
                  <a:pt x="0" y="325874"/>
                  <a:pt x="0" y="304800"/>
                </a:cubicBezTo>
                <a:cubicBezTo>
                  <a:pt x="0" y="283726"/>
                  <a:pt x="17026" y="266700"/>
                  <a:pt x="38100" y="266700"/>
                </a:cubicBezTo>
                <a:lnTo>
                  <a:pt x="419100" y="266700"/>
                </a:lnTo>
                <a:lnTo>
                  <a:pt x="419100" y="130135"/>
                </a:lnTo>
                <a:lnTo>
                  <a:pt x="369808" y="179427"/>
                </a:lnTo>
                <a:cubicBezTo>
                  <a:pt x="354925" y="194310"/>
                  <a:pt x="330756" y="194310"/>
                  <a:pt x="315873" y="179427"/>
                </a:cubicBezTo>
                <a:cubicBezTo>
                  <a:pt x="300990" y="164544"/>
                  <a:pt x="300990" y="140375"/>
                  <a:pt x="315873" y="125492"/>
                </a:cubicBezTo>
                <a:close/>
                <a:moveTo>
                  <a:pt x="495300" y="400050"/>
                </a:moveTo>
                <a:lnTo>
                  <a:pt x="495300" y="571500"/>
                </a:lnTo>
                <a:cubicBezTo>
                  <a:pt x="495300" y="592574"/>
                  <a:pt x="478274" y="609600"/>
                  <a:pt x="457200" y="609600"/>
                </a:cubicBezTo>
                <a:cubicBezTo>
                  <a:pt x="436126" y="609600"/>
                  <a:pt x="419100" y="592574"/>
                  <a:pt x="419100" y="571500"/>
                </a:cubicBezTo>
                <a:lnTo>
                  <a:pt x="419100" y="400050"/>
                </a:lnTo>
                <a:lnTo>
                  <a:pt x="495300" y="400050"/>
                </a:lnTo>
                <a:close/>
                <a:moveTo>
                  <a:pt x="114300" y="209550"/>
                </a:moveTo>
                <a:lnTo>
                  <a:pt x="114300" y="38100"/>
                </a:lnTo>
                <a:cubicBezTo>
                  <a:pt x="114300" y="17026"/>
                  <a:pt x="131326" y="0"/>
                  <a:pt x="152400" y="0"/>
                </a:cubicBezTo>
                <a:cubicBezTo>
                  <a:pt x="173474" y="0"/>
                  <a:pt x="190500" y="17026"/>
                  <a:pt x="190500" y="38100"/>
                </a:cubicBezTo>
                <a:lnTo>
                  <a:pt x="190500" y="209550"/>
                </a:lnTo>
                <a:lnTo>
                  <a:pt x="114300" y="20955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56000" y="3619500"/>
            <a:ext cx="914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DIAGRAM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4318000"/>
            <a:ext cx="1168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Scenarios: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Appointment Booking Flow, Virtual Consultation Flow,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Prescription Generation Flow, Payment Processing 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Insert your Sequence Diagram here 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26/52</a:t>
            </a:r>
            <a:endParaRPr lang="en-US" sz="1400" dirty="0"/>
          </a:p>
        </p:txBody>
      </p:sp>
      <p:pic>
        <p:nvPicPr>
          <p:cNvPr id="18" name="Image 0" descr="https://kimi-img.moonshot.cn/pub/slides/26-06-03-10:55:33-d8fpf9bdjm8v4huptq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90" y="889000"/>
            <a:ext cx="15058010" cy="8001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965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 PHASE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Design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 Data Modeling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Architecture, Data Flow,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DFD &amp; Database Design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52001" y="2524136"/>
            <a:ext cx="7365881" cy="4397365"/>
          </a:xfrm>
          <a:prstGeom prst="roundRect">
            <a:avLst>
              <a:gd name="adj" fmla="val 12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pic>
        <p:nvPicPr>
          <p:cNvPr id="13" name="Image 0" descr="https://kimi-img.moonshot.cn/pub/slides/26-06-03-11:06:11-d8fpk8s6toiba669if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1821" y="2524136"/>
            <a:ext cx="7733053" cy="4603745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Diagram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8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86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23200" y="266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048000" y="3492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3-TIER SYSTEM ARCHITECTURE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4191000"/>
            <a:ext cx="1168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Presentation Layer</a:t>
            </a:r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Web Client, Mobile App, Admin Dashboard</a:t>
            </a:r>
            <a:endParaRPr lang="en-US" sz="1800" dirty="0"/>
          </a:p>
          <a:p>
            <a:pPr algn="ctr"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Layer</a:t>
            </a:r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API Gateway, Business Logic, AI Chatbot Service</a:t>
            </a:r>
            <a:endParaRPr lang="en-US" sz="1800" dirty="0"/>
          </a:p>
          <a:p>
            <a:pPr algn="ctr"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Layer</a:t>
            </a:r>
            <a:pPr algn="ctr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SQL Server Database, File Storage, Cache Layer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Insert your Architecture Diagram here ◆</a:t>
            </a:r>
            <a:endParaRPr lang="en-US" sz="1600" dirty="0"/>
          </a:p>
        </p:txBody>
      </p:sp>
      <p:pic>
        <p:nvPicPr>
          <p:cNvPr id="17" name="Image 0" descr="https://kimi-img.moonshot.cn/pub/slides/26-06-03-10:56:17-d8fpfkbmsqfda12r3pf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08" y="831850"/>
            <a:ext cx="15271838" cy="7893056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Overview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17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DATA FLOWS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3810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42418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Patient profile data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3683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9000" y="3810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Appointments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69000" y="42418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Booking and confirmation 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68000" y="3683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2000" y="3810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Consultation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22000" y="42418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Session and prescription 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5207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533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16000" y="57658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Processing and receipt flow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15000" y="5207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9000" y="533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Records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69000" y="57658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Storage and retrieval flow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68000" y="5207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22000" y="53340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22000" y="57658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Trigger and delivery flow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DFD 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8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86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23200" y="266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8158" y="188000"/>
                </a:moveTo>
                <a:cubicBezTo>
                  <a:pt x="540187" y="178117"/>
                  <a:pt x="571500" y="140375"/>
                  <a:pt x="571500" y="95250"/>
                </a:cubicBezTo>
                <a:cubicBezTo>
                  <a:pt x="571500" y="42624"/>
                  <a:pt x="528876" y="0"/>
                  <a:pt x="476250" y="0"/>
                </a:cubicBezTo>
                <a:cubicBezTo>
                  <a:pt x="424577" y="0"/>
                  <a:pt x="382548" y="41077"/>
                  <a:pt x="381000" y="92273"/>
                </a:cubicBezTo>
                <a:lnTo>
                  <a:pt x="162163" y="179903"/>
                </a:lnTo>
                <a:cubicBezTo>
                  <a:pt x="144899" y="162878"/>
                  <a:pt x="121325" y="152400"/>
                  <a:pt x="95250" y="152400"/>
                </a:cubicBezTo>
                <a:cubicBezTo>
                  <a:pt x="42624" y="152400"/>
                  <a:pt x="0" y="195024"/>
                  <a:pt x="0" y="247650"/>
                </a:cubicBezTo>
                <a:cubicBezTo>
                  <a:pt x="0" y="300276"/>
                  <a:pt x="42624" y="342900"/>
                  <a:pt x="95250" y="342900"/>
                </a:cubicBezTo>
                <a:cubicBezTo>
                  <a:pt x="109776" y="342900"/>
                  <a:pt x="123587" y="339685"/>
                  <a:pt x="135850" y="333851"/>
                </a:cubicBezTo>
                <a:lnTo>
                  <a:pt x="309205" y="485537"/>
                </a:lnTo>
                <a:cubicBezTo>
                  <a:pt x="306348" y="494586"/>
                  <a:pt x="304800" y="504349"/>
                  <a:pt x="304800" y="514350"/>
                </a:cubicBezTo>
                <a:cubicBezTo>
                  <a:pt x="304800" y="566976"/>
                  <a:pt x="347424" y="609600"/>
                  <a:pt x="400050" y="609600"/>
                </a:cubicBezTo>
                <a:cubicBezTo>
                  <a:pt x="452676" y="609600"/>
                  <a:pt x="495300" y="566976"/>
                  <a:pt x="495300" y="514350"/>
                </a:cubicBezTo>
                <a:cubicBezTo>
                  <a:pt x="495300" y="481370"/>
                  <a:pt x="478631" y="452318"/>
                  <a:pt x="453152" y="435293"/>
                </a:cubicBezTo>
                <a:lnTo>
                  <a:pt x="498158" y="188000"/>
                </a:lnTo>
                <a:close/>
                <a:moveTo>
                  <a:pt x="186095" y="276463"/>
                </a:moveTo>
                <a:cubicBezTo>
                  <a:pt x="188714" y="268248"/>
                  <a:pt x="190262" y="259556"/>
                  <a:pt x="190500" y="250627"/>
                </a:cubicBezTo>
                <a:lnTo>
                  <a:pt x="409337" y="163116"/>
                </a:lnTo>
                <a:cubicBezTo>
                  <a:pt x="413623" y="167283"/>
                  <a:pt x="418148" y="171093"/>
                  <a:pt x="423148" y="174427"/>
                </a:cubicBezTo>
                <a:lnTo>
                  <a:pt x="378143" y="421600"/>
                </a:lnTo>
                <a:cubicBezTo>
                  <a:pt x="371594" y="423148"/>
                  <a:pt x="365284" y="425291"/>
                  <a:pt x="359331" y="428149"/>
                </a:cubicBezTo>
                <a:lnTo>
                  <a:pt x="186095" y="27646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2794000" y="3492500"/>
            <a:ext cx="1066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DFD LEVEL 0 — CONTEXT DIAGRAM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41910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External Entities: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Patient, Doctor, Administrator, Payment Gateway, Notification Service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 Process: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Online Medical System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Insert your DFD Level 0 here 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732000" y="8636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30/52</a:t>
            </a:r>
            <a:endParaRPr lang="en-US" sz="1400" dirty="0"/>
          </a:p>
        </p:txBody>
      </p:sp>
      <p:pic>
        <p:nvPicPr>
          <p:cNvPr id="18" name="Image 0" descr="https://kimi-img.moonshot.cn/pub/slides/26-06-03-11:18:10-d8fppshn4ejses105a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0"/>
            <a:ext cx="15240000" cy="914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Design Schema — Overview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98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86000" y="781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D3EE">
              <a:alpha val="13333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1300" y="2667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304800" y="190500"/>
                </a:moveTo>
                <a:lnTo>
                  <a:pt x="304800" y="304800"/>
                </a:lnTo>
                <a:lnTo>
                  <a:pt x="457200" y="304800"/>
                </a:lnTo>
                <a:lnTo>
                  <a:pt x="457200" y="190500"/>
                </a:lnTo>
                <a:lnTo>
                  <a:pt x="304800" y="190500"/>
                </a:lnTo>
                <a:close/>
                <a:moveTo>
                  <a:pt x="228600" y="190500"/>
                </a:moveTo>
                <a:lnTo>
                  <a:pt x="76200" y="190500"/>
                </a:lnTo>
                <a:lnTo>
                  <a:pt x="76200" y="304800"/>
                </a:lnTo>
                <a:lnTo>
                  <a:pt x="228600" y="304800"/>
                </a:lnTo>
                <a:lnTo>
                  <a:pt x="228600" y="190500"/>
                </a:lnTo>
                <a:close/>
                <a:moveTo>
                  <a:pt x="0" y="381000"/>
                </a:moveTo>
                <a:lnTo>
                  <a:pt x="0" y="114300"/>
                </a:ln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381000"/>
                </a:lnTo>
                <a:close/>
                <a:moveTo>
                  <a:pt x="457200" y="381000"/>
                </a:moveTo>
                <a:lnTo>
                  <a:pt x="304800" y="381000"/>
                </a:lnTo>
                <a:lnTo>
                  <a:pt x="304800" y="495300"/>
                </a:lnTo>
                <a:lnTo>
                  <a:pt x="457200" y="495300"/>
                </a:lnTo>
                <a:lnTo>
                  <a:pt x="457200" y="381000"/>
                </a:lnTo>
                <a:close/>
                <a:moveTo>
                  <a:pt x="228600" y="495300"/>
                </a:moveTo>
                <a:lnTo>
                  <a:pt x="228600" y="381000"/>
                </a:lnTo>
                <a:lnTo>
                  <a:pt x="76200" y="381000"/>
                </a:lnTo>
                <a:lnTo>
                  <a:pt x="76200" y="495300"/>
                </a:lnTo>
                <a:lnTo>
                  <a:pt x="228600" y="4953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302000" y="3492500"/>
            <a:ext cx="965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SCHEMA — OVERVIEW PLACEHOLDER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4191000"/>
            <a:ext cx="1219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Tables: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Users, Patients, Doctors, Admins, Appointments, Consultations,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Prescriptions, Medications, Payments, HealthRecords, Notifications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8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Insert your Database Schema Overview here ◆</a:t>
            </a:r>
            <a:endParaRPr lang="en-US" sz="1600" dirty="0"/>
          </a:p>
        </p:txBody>
      </p:sp>
      <p:pic>
        <p:nvPicPr>
          <p:cNvPr id="17" name="Image 0" descr="https://kimi-img.moonshot.cn/pub/slides/26-06-03-10:57:22-d8fpg4le09n5aatk4r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714500"/>
            <a:ext cx="14613381" cy="666750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CHATBOT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Patient Support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Objectives, Architecture,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Technologies &amp; Features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68000" y="1778000"/>
            <a:ext cx="4826000" cy="5080000"/>
          </a:xfrm>
          <a:prstGeom prst="roundRect">
            <a:avLst>
              <a:gd name="adj" fmla="val 12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04750" y="3302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523875" y="0"/>
                </a:moveTo>
                <a:cubicBezTo>
                  <a:pt x="523875" y="-26343"/>
                  <a:pt x="502593" y="-47625"/>
                  <a:pt x="476250" y="-47625"/>
                </a:cubicBezTo>
                <a:cubicBezTo>
                  <a:pt x="449907" y="-47625"/>
                  <a:pt x="428625" y="-26343"/>
                  <a:pt x="428625" y="0"/>
                </a:cubicBezTo>
                <a:lnTo>
                  <a:pt x="428625" y="95250"/>
                </a:lnTo>
                <a:lnTo>
                  <a:pt x="285750" y="95250"/>
                </a:lnTo>
                <a:cubicBezTo>
                  <a:pt x="206871" y="95250"/>
                  <a:pt x="142875" y="159246"/>
                  <a:pt x="142875" y="238125"/>
                </a:cubicBezTo>
                <a:lnTo>
                  <a:pt x="142875" y="571500"/>
                </a:lnTo>
                <a:cubicBezTo>
                  <a:pt x="142875" y="650379"/>
                  <a:pt x="206871" y="714375"/>
                  <a:pt x="285750" y="714375"/>
                </a:cubicBezTo>
                <a:lnTo>
                  <a:pt x="666750" y="714375"/>
                </a:lnTo>
                <a:cubicBezTo>
                  <a:pt x="745629" y="714375"/>
                  <a:pt x="809625" y="650379"/>
                  <a:pt x="809625" y="571500"/>
                </a:cubicBezTo>
                <a:lnTo>
                  <a:pt x="809625" y="238125"/>
                </a:lnTo>
                <a:cubicBezTo>
                  <a:pt x="809625" y="159246"/>
                  <a:pt x="745629" y="95250"/>
                  <a:pt x="666750" y="95250"/>
                </a:cubicBezTo>
                <a:lnTo>
                  <a:pt x="523875" y="95250"/>
                </a:lnTo>
                <a:lnTo>
                  <a:pt x="523875" y="0"/>
                </a:lnTo>
                <a:close/>
                <a:moveTo>
                  <a:pt x="238125" y="547687"/>
                </a:moveTo>
                <a:cubicBezTo>
                  <a:pt x="238125" y="527893"/>
                  <a:pt x="254050" y="511969"/>
                  <a:pt x="273844" y="511969"/>
                </a:cubicBezTo>
                <a:lnTo>
                  <a:pt x="321469" y="511969"/>
                </a:lnTo>
                <a:cubicBezTo>
                  <a:pt x="341263" y="511969"/>
                  <a:pt x="357188" y="527893"/>
                  <a:pt x="357188" y="547687"/>
                </a:cubicBezTo>
                <a:cubicBezTo>
                  <a:pt x="357188" y="567482"/>
                  <a:pt x="341263" y="583406"/>
                  <a:pt x="321469" y="583406"/>
                </a:cubicBezTo>
                <a:lnTo>
                  <a:pt x="273844" y="583406"/>
                </a:lnTo>
                <a:cubicBezTo>
                  <a:pt x="254050" y="583406"/>
                  <a:pt x="238125" y="567482"/>
                  <a:pt x="238125" y="547687"/>
                </a:cubicBezTo>
                <a:close/>
                <a:moveTo>
                  <a:pt x="416719" y="547687"/>
                </a:moveTo>
                <a:cubicBezTo>
                  <a:pt x="416719" y="527893"/>
                  <a:pt x="432643" y="511969"/>
                  <a:pt x="452438" y="511969"/>
                </a:cubicBezTo>
                <a:lnTo>
                  <a:pt x="500063" y="511969"/>
                </a:lnTo>
                <a:cubicBezTo>
                  <a:pt x="519857" y="511969"/>
                  <a:pt x="535781" y="527893"/>
                  <a:pt x="535781" y="547687"/>
                </a:cubicBezTo>
                <a:cubicBezTo>
                  <a:pt x="535781" y="567482"/>
                  <a:pt x="519857" y="583406"/>
                  <a:pt x="500063" y="583406"/>
                </a:cubicBezTo>
                <a:lnTo>
                  <a:pt x="452438" y="583406"/>
                </a:lnTo>
                <a:cubicBezTo>
                  <a:pt x="432643" y="583406"/>
                  <a:pt x="416719" y="567482"/>
                  <a:pt x="416719" y="547687"/>
                </a:cubicBezTo>
                <a:close/>
                <a:moveTo>
                  <a:pt x="595313" y="547687"/>
                </a:moveTo>
                <a:cubicBezTo>
                  <a:pt x="595313" y="527893"/>
                  <a:pt x="611237" y="511969"/>
                  <a:pt x="631031" y="511969"/>
                </a:cubicBezTo>
                <a:lnTo>
                  <a:pt x="678656" y="511969"/>
                </a:lnTo>
                <a:cubicBezTo>
                  <a:pt x="698450" y="511969"/>
                  <a:pt x="714375" y="527893"/>
                  <a:pt x="714375" y="547687"/>
                </a:cubicBezTo>
                <a:cubicBezTo>
                  <a:pt x="714375" y="567482"/>
                  <a:pt x="698450" y="583406"/>
                  <a:pt x="678656" y="583406"/>
                </a:cubicBezTo>
                <a:lnTo>
                  <a:pt x="631031" y="583406"/>
                </a:lnTo>
                <a:cubicBezTo>
                  <a:pt x="611237" y="583406"/>
                  <a:pt x="595313" y="567482"/>
                  <a:pt x="595313" y="547687"/>
                </a:cubicBezTo>
                <a:close/>
                <a:moveTo>
                  <a:pt x="333375" y="261938"/>
                </a:moveTo>
                <a:cubicBezTo>
                  <a:pt x="372802" y="261938"/>
                  <a:pt x="404813" y="293948"/>
                  <a:pt x="404813" y="333375"/>
                </a:cubicBezTo>
                <a:cubicBezTo>
                  <a:pt x="404813" y="372802"/>
                  <a:pt x="372802" y="404813"/>
                  <a:pt x="333375" y="404813"/>
                </a:cubicBezTo>
                <a:cubicBezTo>
                  <a:pt x="293948" y="404813"/>
                  <a:pt x="261938" y="372802"/>
                  <a:pt x="261938" y="333375"/>
                </a:cubicBezTo>
                <a:cubicBezTo>
                  <a:pt x="261938" y="293948"/>
                  <a:pt x="293948" y="261938"/>
                  <a:pt x="333375" y="261938"/>
                </a:cubicBezTo>
                <a:close/>
                <a:moveTo>
                  <a:pt x="547687" y="333375"/>
                </a:moveTo>
                <a:cubicBezTo>
                  <a:pt x="547687" y="293948"/>
                  <a:pt x="579698" y="261938"/>
                  <a:pt x="619125" y="261938"/>
                </a:cubicBezTo>
                <a:cubicBezTo>
                  <a:pt x="658552" y="261938"/>
                  <a:pt x="690563" y="293948"/>
                  <a:pt x="690563" y="333375"/>
                </a:cubicBezTo>
                <a:cubicBezTo>
                  <a:pt x="690563" y="372802"/>
                  <a:pt x="658552" y="404813"/>
                  <a:pt x="619125" y="404813"/>
                </a:cubicBezTo>
                <a:cubicBezTo>
                  <a:pt x="579698" y="404813"/>
                  <a:pt x="547687" y="372802"/>
                  <a:pt x="547687" y="333375"/>
                </a:cubicBezTo>
                <a:close/>
                <a:moveTo>
                  <a:pt x="95250" y="333375"/>
                </a:moveTo>
                <a:cubicBezTo>
                  <a:pt x="95250" y="307032"/>
                  <a:pt x="73968" y="285750"/>
                  <a:pt x="47625" y="285750"/>
                </a:cubicBezTo>
                <a:cubicBezTo>
                  <a:pt x="21282" y="285750"/>
                  <a:pt x="0" y="307032"/>
                  <a:pt x="0" y="333375"/>
                </a:cubicBezTo>
                <a:lnTo>
                  <a:pt x="0" y="476250"/>
                </a:lnTo>
                <a:cubicBezTo>
                  <a:pt x="0" y="502593"/>
                  <a:pt x="21282" y="523875"/>
                  <a:pt x="47625" y="523875"/>
                </a:cubicBezTo>
                <a:cubicBezTo>
                  <a:pt x="73968" y="523875"/>
                  <a:pt x="95250" y="502593"/>
                  <a:pt x="95250" y="476250"/>
                </a:cubicBezTo>
                <a:lnTo>
                  <a:pt x="95250" y="333375"/>
                </a:lnTo>
                <a:close/>
                <a:moveTo>
                  <a:pt x="904875" y="285750"/>
                </a:moveTo>
                <a:cubicBezTo>
                  <a:pt x="878532" y="285750"/>
                  <a:pt x="857250" y="307032"/>
                  <a:pt x="857250" y="333375"/>
                </a:cubicBezTo>
                <a:lnTo>
                  <a:pt x="857250" y="476250"/>
                </a:lnTo>
                <a:cubicBezTo>
                  <a:pt x="857250" y="502593"/>
                  <a:pt x="878532" y="523875"/>
                  <a:pt x="904875" y="523875"/>
                </a:cubicBezTo>
                <a:cubicBezTo>
                  <a:pt x="931218" y="523875"/>
                  <a:pt x="952500" y="502593"/>
                  <a:pt x="952500" y="476250"/>
                </a:cubicBezTo>
                <a:lnTo>
                  <a:pt x="952500" y="333375"/>
                </a:lnTo>
                <a:cubicBezTo>
                  <a:pt x="952500" y="307032"/>
                  <a:pt x="931218" y="285750"/>
                  <a:pt x="904875" y="2857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4445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Patient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19000" y="304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/>
            </a:pathLst>
          </a:cu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589000" y="3048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/>
            </a:pathLst>
          </a:custGeom>
          <a:solidFill>
            <a:srgbClr val="3B82F6"/>
          </a:solidFill>
          <a:ln/>
        </p:spPr>
      </p:sp>
      <p:pic>
        <p:nvPicPr>
          <p:cNvPr id="17" name="Image 0" descr="https://kimi-img.moonshot.cn/pub/slides/26-06-03-11:10:14-d8fpm5jmsqfda12rfp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6071" y="1778000"/>
            <a:ext cx="5149859" cy="543189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Chatbot Introduction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714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spc="1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Healthcare Chatbot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2225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assistant designed to help patients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24/7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3175000"/>
            <a:ext cx="3556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8862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Availability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16000" y="4318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 responses anytime, anywhere for patient convenience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175000"/>
            <a:ext cx="3556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3775" y="342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33337"/>
                </a:moveTo>
                <a:cubicBezTo>
                  <a:pt x="22225" y="14932"/>
                  <a:pt x="37157" y="0"/>
                  <a:pt x="55563" y="0"/>
                </a:cubicBezTo>
                <a:lnTo>
                  <a:pt x="88900" y="0"/>
                </a:lnTo>
                <a:cubicBezTo>
                  <a:pt x="101193" y="0"/>
                  <a:pt x="111125" y="9932"/>
                  <a:pt x="111125" y="22225"/>
                </a:cubicBezTo>
                <a:cubicBezTo>
                  <a:pt x="111125" y="34518"/>
                  <a:pt x="101193" y="44450"/>
                  <a:pt x="88900" y="44450"/>
                </a:cubicBezTo>
                <a:lnTo>
                  <a:pt x="66675" y="44450"/>
                </a:lnTo>
                <a:lnTo>
                  <a:pt x="66675" y="133350"/>
                </a:lnTo>
                <a:cubicBezTo>
                  <a:pt x="66675" y="170160"/>
                  <a:pt x="96540" y="200025"/>
                  <a:pt x="133350" y="200025"/>
                </a:cubicBezTo>
                <a:cubicBezTo>
                  <a:pt x="170160" y="200025"/>
                  <a:pt x="200025" y="170160"/>
                  <a:pt x="200025" y="133350"/>
                </a:cubicBezTo>
                <a:lnTo>
                  <a:pt x="200025" y="44450"/>
                </a:lnTo>
                <a:lnTo>
                  <a:pt x="177800" y="44450"/>
                </a:lnTo>
                <a:cubicBezTo>
                  <a:pt x="165507" y="44450"/>
                  <a:pt x="155575" y="34518"/>
                  <a:pt x="155575" y="22225"/>
                </a:cubicBezTo>
                <a:cubicBezTo>
                  <a:pt x="155575" y="9932"/>
                  <a:pt x="165507" y="0"/>
                  <a:pt x="177800" y="0"/>
                </a:cubicBezTo>
                <a:lnTo>
                  <a:pt x="211138" y="0"/>
                </a:lnTo>
                <a:cubicBezTo>
                  <a:pt x="229543" y="0"/>
                  <a:pt x="244475" y="14932"/>
                  <a:pt x="244475" y="33337"/>
                </a:cubicBezTo>
                <a:lnTo>
                  <a:pt x="244475" y="133350"/>
                </a:lnTo>
                <a:cubicBezTo>
                  <a:pt x="244475" y="187107"/>
                  <a:pt x="206276" y="231973"/>
                  <a:pt x="155575" y="242253"/>
                </a:cubicBezTo>
                <a:lnTo>
                  <a:pt x="155575" y="255587"/>
                </a:lnTo>
                <a:cubicBezTo>
                  <a:pt x="155575" y="298579"/>
                  <a:pt x="190371" y="333375"/>
                  <a:pt x="233363" y="333375"/>
                </a:cubicBezTo>
                <a:cubicBezTo>
                  <a:pt x="276354" y="333375"/>
                  <a:pt x="311150" y="298579"/>
                  <a:pt x="311150" y="255587"/>
                </a:cubicBezTo>
                <a:lnTo>
                  <a:pt x="311150" y="196205"/>
                </a:lnTo>
                <a:cubicBezTo>
                  <a:pt x="285244" y="187037"/>
                  <a:pt x="266700" y="162381"/>
                  <a:pt x="266700" y="133350"/>
                </a:cubicBezTo>
                <a:cubicBezTo>
                  <a:pt x="266700" y="96540"/>
                  <a:pt x="296565" y="66675"/>
                  <a:pt x="333375" y="66675"/>
                </a:cubicBezTo>
                <a:cubicBezTo>
                  <a:pt x="370185" y="66675"/>
                  <a:pt x="400050" y="96540"/>
                  <a:pt x="400050" y="133350"/>
                </a:cubicBezTo>
                <a:cubicBezTo>
                  <a:pt x="400050" y="162381"/>
                  <a:pt x="381506" y="187107"/>
                  <a:pt x="355600" y="196205"/>
                </a:cubicBezTo>
                <a:lnTo>
                  <a:pt x="355600" y="255587"/>
                </a:lnTo>
                <a:cubicBezTo>
                  <a:pt x="355600" y="323096"/>
                  <a:pt x="300871" y="377825"/>
                  <a:pt x="233363" y="377825"/>
                </a:cubicBezTo>
                <a:cubicBezTo>
                  <a:pt x="165854" y="377825"/>
                  <a:pt x="111125" y="323096"/>
                  <a:pt x="111125" y="255587"/>
                </a:cubicBezTo>
                <a:lnTo>
                  <a:pt x="111125" y="242253"/>
                </a:lnTo>
                <a:cubicBezTo>
                  <a:pt x="60424" y="231973"/>
                  <a:pt x="22225" y="187107"/>
                  <a:pt x="22225" y="133350"/>
                </a:cubicBezTo>
                <a:lnTo>
                  <a:pt x="22225" y="33337"/>
                </a:lnTo>
                <a:close/>
                <a:moveTo>
                  <a:pt x="333375" y="155575"/>
                </a:moveTo>
                <a:cubicBezTo>
                  <a:pt x="345641" y="155575"/>
                  <a:pt x="355600" y="145616"/>
                  <a:pt x="355600" y="133350"/>
                </a:cubicBezTo>
                <a:cubicBezTo>
                  <a:pt x="355600" y="121084"/>
                  <a:pt x="345641" y="111125"/>
                  <a:pt x="333375" y="111125"/>
                </a:cubicBezTo>
                <a:cubicBezTo>
                  <a:pt x="321109" y="111125"/>
                  <a:pt x="311150" y="121084"/>
                  <a:pt x="311150" y="133350"/>
                </a:cubicBezTo>
                <a:cubicBezTo>
                  <a:pt x="311150" y="145616"/>
                  <a:pt x="321109" y="155575"/>
                  <a:pt x="333375" y="1555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4826000" y="38862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Symptom Assessment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26000" y="4318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Preliminary guidance and symptom evaluation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5207000"/>
            <a:ext cx="3556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6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9182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Q&amp;A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16000" y="6350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Answers to common health questions and concerns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90000" y="1714500"/>
            <a:ext cx="6604000" cy="52705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11000" y="2540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698500" y="0"/>
                </a:moveTo>
                <a:cubicBezTo>
                  <a:pt x="698500" y="-35123"/>
                  <a:pt x="670123" y="-63500"/>
                  <a:pt x="635000" y="-63500"/>
                </a:cubicBezTo>
                <a:cubicBezTo>
                  <a:pt x="599877" y="-63500"/>
                  <a:pt x="571500" y="-35123"/>
                  <a:pt x="571500" y="0"/>
                </a:cubicBezTo>
                <a:lnTo>
                  <a:pt x="571500" y="127000"/>
                </a:lnTo>
                <a:lnTo>
                  <a:pt x="381000" y="127000"/>
                </a:lnTo>
                <a:cubicBezTo>
                  <a:pt x="275828" y="127000"/>
                  <a:pt x="190500" y="212328"/>
                  <a:pt x="190500" y="317500"/>
                </a:cubicBezTo>
                <a:lnTo>
                  <a:pt x="190500" y="762000"/>
                </a:lnTo>
                <a:cubicBezTo>
                  <a:pt x="190500" y="867172"/>
                  <a:pt x="275828" y="952500"/>
                  <a:pt x="381000" y="952500"/>
                </a:cubicBezTo>
                <a:lnTo>
                  <a:pt x="889000" y="952500"/>
                </a:lnTo>
                <a:cubicBezTo>
                  <a:pt x="994172" y="952500"/>
                  <a:pt x="1079500" y="867172"/>
                  <a:pt x="1079500" y="762000"/>
                </a:cubicBezTo>
                <a:lnTo>
                  <a:pt x="1079500" y="317500"/>
                </a:lnTo>
                <a:cubicBezTo>
                  <a:pt x="1079500" y="212328"/>
                  <a:pt x="994172" y="127000"/>
                  <a:pt x="889000" y="127000"/>
                </a:cubicBezTo>
                <a:lnTo>
                  <a:pt x="698500" y="127000"/>
                </a:lnTo>
                <a:lnTo>
                  <a:pt x="698500" y="0"/>
                </a:lnTo>
                <a:close/>
                <a:moveTo>
                  <a:pt x="317500" y="730250"/>
                </a:moveTo>
                <a:cubicBezTo>
                  <a:pt x="317500" y="703858"/>
                  <a:pt x="338733" y="682625"/>
                  <a:pt x="365125" y="682625"/>
                </a:cubicBezTo>
                <a:lnTo>
                  <a:pt x="428625" y="682625"/>
                </a:lnTo>
                <a:cubicBezTo>
                  <a:pt x="455017" y="682625"/>
                  <a:pt x="476250" y="703858"/>
                  <a:pt x="476250" y="730250"/>
                </a:cubicBezTo>
                <a:cubicBezTo>
                  <a:pt x="476250" y="756642"/>
                  <a:pt x="455017" y="777875"/>
                  <a:pt x="428625" y="777875"/>
                </a:cubicBezTo>
                <a:lnTo>
                  <a:pt x="365125" y="777875"/>
                </a:lnTo>
                <a:cubicBezTo>
                  <a:pt x="338733" y="777875"/>
                  <a:pt x="317500" y="756642"/>
                  <a:pt x="317500" y="730250"/>
                </a:cubicBezTo>
                <a:close/>
                <a:moveTo>
                  <a:pt x="555625" y="730250"/>
                </a:moveTo>
                <a:cubicBezTo>
                  <a:pt x="555625" y="703858"/>
                  <a:pt x="576858" y="682625"/>
                  <a:pt x="603250" y="682625"/>
                </a:cubicBezTo>
                <a:lnTo>
                  <a:pt x="666750" y="682625"/>
                </a:lnTo>
                <a:cubicBezTo>
                  <a:pt x="693142" y="682625"/>
                  <a:pt x="714375" y="703858"/>
                  <a:pt x="714375" y="730250"/>
                </a:cubicBezTo>
                <a:cubicBezTo>
                  <a:pt x="714375" y="756642"/>
                  <a:pt x="693142" y="777875"/>
                  <a:pt x="666750" y="777875"/>
                </a:cubicBezTo>
                <a:lnTo>
                  <a:pt x="603250" y="777875"/>
                </a:lnTo>
                <a:cubicBezTo>
                  <a:pt x="576858" y="777875"/>
                  <a:pt x="555625" y="756642"/>
                  <a:pt x="555625" y="730250"/>
                </a:cubicBezTo>
                <a:close/>
                <a:moveTo>
                  <a:pt x="793750" y="730250"/>
                </a:moveTo>
                <a:cubicBezTo>
                  <a:pt x="793750" y="703858"/>
                  <a:pt x="814983" y="682625"/>
                  <a:pt x="841375" y="682625"/>
                </a:cubicBezTo>
                <a:lnTo>
                  <a:pt x="904875" y="682625"/>
                </a:lnTo>
                <a:cubicBezTo>
                  <a:pt x="931267" y="682625"/>
                  <a:pt x="952500" y="703858"/>
                  <a:pt x="952500" y="730250"/>
                </a:cubicBezTo>
                <a:cubicBezTo>
                  <a:pt x="952500" y="756642"/>
                  <a:pt x="931267" y="777875"/>
                  <a:pt x="904875" y="777875"/>
                </a:cubicBezTo>
                <a:lnTo>
                  <a:pt x="841375" y="777875"/>
                </a:lnTo>
                <a:cubicBezTo>
                  <a:pt x="814983" y="777875"/>
                  <a:pt x="793750" y="756642"/>
                  <a:pt x="793750" y="730250"/>
                </a:cubicBezTo>
                <a:close/>
                <a:moveTo>
                  <a:pt x="444500" y="349250"/>
                </a:moveTo>
                <a:cubicBezTo>
                  <a:pt x="497070" y="349250"/>
                  <a:pt x="539750" y="391930"/>
                  <a:pt x="539750" y="444500"/>
                </a:cubicBezTo>
                <a:cubicBezTo>
                  <a:pt x="539750" y="497070"/>
                  <a:pt x="497070" y="539750"/>
                  <a:pt x="444500" y="539750"/>
                </a:cubicBezTo>
                <a:cubicBezTo>
                  <a:pt x="391930" y="539750"/>
                  <a:pt x="349250" y="497070"/>
                  <a:pt x="349250" y="444500"/>
                </a:cubicBezTo>
                <a:cubicBezTo>
                  <a:pt x="349250" y="391930"/>
                  <a:pt x="391930" y="349250"/>
                  <a:pt x="444500" y="349250"/>
                </a:cubicBezTo>
                <a:close/>
                <a:moveTo>
                  <a:pt x="730250" y="444500"/>
                </a:moveTo>
                <a:cubicBezTo>
                  <a:pt x="730250" y="391930"/>
                  <a:pt x="772930" y="349250"/>
                  <a:pt x="825500" y="349250"/>
                </a:cubicBezTo>
                <a:cubicBezTo>
                  <a:pt x="878070" y="349250"/>
                  <a:pt x="920750" y="391930"/>
                  <a:pt x="920750" y="444500"/>
                </a:cubicBezTo>
                <a:cubicBezTo>
                  <a:pt x="920750" y="497070"/>
                  <a:pt x="878070" y="539750"/>
                  <a:pt x="825500" y="539750"/>
                </a:cubicBezTo>
                <a:cubicBezTo>
                  <a:pt x="772930" y="539750"/>
                  <a:pt x="730250" y="497070"/>
                  <a:pt x="730250" y="444500"/>
                </a:cubicBezTo>
                <a:close/>
                <a:moveTo>
                  <a:pt x="127000" y="444500"/>
                </a:moveTo>
                <a:cubicBezTo>
                  <a:pt x="127000" y="409377"/>
                  <a:pt x="98623" y="381000"/>
                  <a:pt x="63500" y="381000"/>
                </a:cubicBezTo>
                <a:cubicBezTo>
                  <a:pt x="28377" y="381000"/>
                  <a:pt x="0" y="409377"/>
                  <a:pt x="0" y="444500"/>
                </a:cubicBezTo>
                <a:lnTo>
                  <a:pt x="0" y="635000"/>
                </a:lnTo>
                <a:cubicBezTo>
                  <a:pt x="0" y="670123"/>
                  <a:pt x="28377" y="698500"/>
                  <a:pt x="63500" y="698500"/>
                </a:cubicBezTo>
                <a:cubicBezTo>
                  <a:pt x="98623" y="698500"/>
                  <a:pt x="127000" y="670123"/>
                  <a:pt x="127000" y="635000"/>
                </a:cubicBezTo>
                <a:lnTo>
                  <a:pt x="127000" y="444500"/>
                </a:lnTo>
                <a:close/>
                <a:moveTo>
                  <a:pt x="1206500" y="381000"/>
                </a:moveTo>
                <a:cubicBezTo>
                  <a:pt x="1171377" y="381000"/>
                  <a:pt x="1143000" y="409377"/>
                  <a:pt x="1143000" y="444500"/>
                </a:cubicBezTo>
                <a:lnTo>
                  <a:pt x="1143000" y="635000"/>
                </a:lnTo>
                <a:cubicBezTo>
                  <a:pt x="1143000" y="670123"/>
                  <a:pt x="1171377" y="698500"/>
                  <a:pt x="1206500" y="698500"/>
                </a:cubicBezTo>
                <a:cubicBezTo>
                  <a:pt x="1241623" y="698500"/>
                  <a:pt x="1270000" y="670123"/>
                  <a:pt x="1270000" y="635000"/>
                </a:cubicBezTo>
                <a:lnTo>
                  <a:pt x="1270000" y="444500"/>
                </a:lnTo>
                <a:cubicBezTo>
                  <a:pt x="1270000" y="409377"/>
                  <a:pt x="1241623" y="381000"/>
                  <a:pt x="1206500" y="3810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57000" y="241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/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081000" y="241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/>
            </a:pathLst>
          </a:cu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9398000" y="3937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MEDIDASH AI ASSISTANT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176000" y="4445000"/>
            <a:ext cx="2032000" cy="25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0" y="4699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Your intelligent healthcare companion — providing instant support, symptom checking, and seamless doctor referrals around the clock.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of the AI Chatbot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1968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2006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Patient Support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2500" y="2476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round-the-clock patient support with instant responses to inquiries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1778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5500" y="1968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4000" y="2006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Symptom Assessment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05500" y="2476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 preliminary symptom assessment and guidance for patients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668000" y="17780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58500" y="1968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57000" y="2006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Q&amp;A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858500" y="24765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Answer common health questions and concerns from patients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393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00" y="412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51000" y="4165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 Escalation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2500" y="4635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 seamless escalation to human doctors when needed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715000" y="3937000"/>
            <a:ext cx="4699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5500" y="412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04000" y="4165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Admin Burden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905500" y="4635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 administrative burden through automation of routine inquiries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668000" y="3937000"/>
            <a:ext cx="4826000" cy="1905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58500" y="412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57000" y="4165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Engagement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858500" y="46355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 patient engagement through proactive communication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2000" y="6223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413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Six core objectives driving the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Chatbot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development for enhanced patient care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Technologies Used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9050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4575" y="2222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728" y="179040"/>
                </a:moveTo>
                <a:cubicBezTo>
                  <a:pt x="385852" y="151448"/>
                  <a:pt x="372814" y="130641"/>
                  <a:pt x="345043" y="130641"/>
                </a:cubicBezTo>
                <a:lnTo>
                  <a:pt x="309235" y="130641"/>
                </a:lnTo>
                <a:lnTo>
                  <a:pt x="309235" y="172968"/>
                </a:lnTo>
                <a:cubicBezTo>
                  <a:pt x="309235" y="205829"/>
                  <a:pt x="281374" y="233511"/>
                  <a:pt x="249585" y="233511"/>
                </a:cubicBezTo>
                <a:lnTo>
                  <a:pt x="154216" y="233511"/>
                </a:lnTo>
                <a:cubicBezTo>
                  <a:pt x="128141" y="233511"/>
                  <a:pt x="106531" y="255836"/>
                  <a:pt x="106531" y="282000"/>
                </a:cubicBezTo>
                <a:lnTo>
                  <a:pt x="106531" y="372904"/>
                </a:lnTo>
                <a:cubicBezTo>
                  <a:pt x="106531" y="398800"/>
                  <a:pt x="129034" y="413980"/>
                  <a:pt x="154216" y="421392"/>
                </a:cubicBezTo>
                <a:cubicBezTo>
                  <a:pt x="184398" y="430232"/>
                  <a:pt x="213420" y="431840"/>
                  <a:pt x="249585" y="421392"/>
                </a:cubicBezTo>
                <a:cubicBezTo>
                  <a:pt x="273606" y="414427"/>
                  <a:pt x="297269" y="400407"/>
                  <a:pt x="297269" y="372904"/>
                </a:cubicBezTo>
                <a:lnTo>
                  <a:pt x="297269" y="336560"/>
                </a:lnTo>
                <a:lnTo>
                  <a:pt x="201990" y="336560"/>
                </a:lnTo>
                <a:lnTo>
                  <a:pt x="201990" y="324416"/>
                </a:lnTo>
                <a:lnTo>
                  <a:pt x="345043" y="324416"/>
                </a:lnTo>
                <a:cubicBezTo>
                  <a:pt x="372814" y="324416"/>
                  <a:pt x="383084" y="305038"/>
                  <a:pt x="392728" y="276017"/>
                </a:cubicBezTo>
                <a:cubicBezTo>
                  <a:pt x="402729" y="246102"/>
                  <a:pt x="402282" y="217349"/>
                  <a:pt x="392728" y="179040"/>
                </a:cubicBezTo>
                <a:close/>
                <a:moveTo>
                  <a:pt x="255568" y="397103"/>
                </a:moveTo>
                <a:cubicBezTo>
                  <a:pt x="248771" y="397580"/>
                  <a:pt x="242277" y="394224"/>
                  <a:pt x="238734" y="388405"/>
                </a:cubicBezTo>
                <a:cubicBezTo>
                  <a:pt x="235191" y="382586"/>
                  <a:pt x="235191" y="375276"/>
                  <a:pt x="238734" y="369457"/>
                </a:cubicBezTo>
                <a:cubicBezTo>
                  <a:pt x="242277" y="363638"/>
                  <a:pt x="248771" y="360283"/>
                  <a:pt x="255568" y="360759"/>
                </a:cubicBezTo>
                <a:cubicBezTo>
                  <a:pt x="262364" y="360283"/>
                  <a:pt x="268858" y="363638"/>
                  <a:pt x="272401" y="369457"/>
                </a:cubicBezTo>
                <a:cubicBezTo>
                  <a:pt x="275945" y="375276"/>
                  <a:pt x="275945" y="382586"/>
                  <a:pt x="272401" y="388405"/>
                </a:cubicBezTo>
                <a:cubicBezTo>
                  <a:pt x="268858" y="394224"/>
                  <a:pt x="262364" y="397580"/>
                  <a:pt x="255568" y="397103"/>
                </a:cubicBezTo>
                <a:close/>
                <a:moveTo>
                  <a:pt x="149840" y="221546"/>
                </a:moveTo>
                <a:lnTo>
                  <a:pt x="245209" y="221546"/>
                </a:lnTo>
                <a:cubicBezTo>
                  <a:pt x="271730" y="221546"/>
                  <a:pt x="292894" y="199668"/>
                  <a:pt x="292894" y="173057"/>
                </a:cubicBezTo>
                <a:lnTo>
                  <a:pt x="292894" y="82064"/>
                </a:lnTo>
                <a:cubicBezTo>
                  <a:pt x="292894" y="56168"/>
                  <a:pt x="271105" y="36790"/>
                  <a:pt x="245209" y="32415"/>
                </a:cubicBezTo>
                <a:cubicBezTo>
                  <a:pt x="213241" y="27146"/>
                  <a:pt x="178504" y="27414"/>
                  <a:pt x="149840" y="32504"/>
                </a:cubicBezTo>
                <a:cubicBezTo>
                  <a:pt x="109478" y="39648"/>
                  <a:pt x="102156" y="54560"/>
                  <a:pt x="102156" y="82153"/>
                </a:cubicBezTo>
                <a:lnTo>
                  <a:pt x="102156" y="118497"/>
                </a:lnTo>
                <a:lnTo>
                  <a:pt x="197614" y="118497"/>
                </a:lnTo>
                <a:lnTo>
                  <a:pt x="197614" y="130641"/>
                </a:lnTo>
                <a:lnTo>
                  <a:pt x="66348" y="130641"/>
                </a:lnTo>
                <a:cubicBezTo>
                  <a:pt x="38576" y="130641"/>
                  <a:pt x="14288" y="147340"/>
                  <a:pt x="6697" y="179040"/>
                </a:cubicBezTo>
                <a:cubicBezTo>
                  <a:pt x="-2054" y="215384"/>
                  <a:pt x="-2411" y="238065"/>
                  <a:pt x="6697" y="276017"/>
                </a:cubicBezTo>
                <a:cubicBezTo>
                  <a:pt x="13484" y="304234"/>
                  <a:pt x="29647" y="324416"/>
                  <a:pt x="57418" y="324416"/>
                </a:cubicBezTo>
                <a:lnTo>
                  <a:pt x="90190" y="324416"/>
                </a:lnTo>
                <a:lnTo>
                  <a:pt x="90190" y="280839"/>
                </a:lnTo>
                <a:cubicBezTo>
                  <a:pt x="90190" y="249317"/>
                  <a:pt x="117425" y="221546"/>
                  <a:pt x="149840" y="221546"/>
                </a:cubicBezTo>
                <a:close/>
                <a:moveTo>
                  <a:pt x="143947" y="57775"/>
                </a:moveTo>
                <a:cubicBezTo>
                  <a:pt x="154001" y="57775"/>
                  <a:pt x="162163" y="65938"/>
                  <a:pt x="162163" y="75992"/>
                </a:cubicBezTo>
                <a:cubicBezTo>
                  <a:pt x="162163" y="86046"/>
                  <a:pt x="154001" y="94208"/>
                  <a:pt x="143947" y="94208"/>
                </a:cubicBezTo>
                <a:cubicBezTo>
                  <a:pt x="133893" y="94208"/>
                  <a:pt x="125730" y="86046"/>
                  <a:pt x="125730" y="75992"/>
                </a:cubicBezTo>
                <a:cubicBezTo>
                  <a:pt x="125730" y="65938"/>
                  <a:pt x="133893" y="57775"/>
                  <a:pt x="143947" y="5777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22225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0" y="27940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AI development language — powering the chatbot backend with robust machine learning libraries and frameworks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8000" y="1905000"/>
            <a:ext cx="7366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3425" y="2222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42875" y="0"/>
                </a:moveTo>
                <a:cubicBezTo>
                  <a:pt x="158681" y="0"/>
                  <a:pt x="171450" y="12769"/>
                  <a:pt x="171450" y="28575"/>
                </a:cubicBezTo>
                <a:lnTo>
                  <a:pt x="171450" y="57150"/>
                </a:lnTo>
                <a:lnTo>
                  <a:pt x="285750" y="57150"/>
                </a:lnTo>
                <a:cubicBezTo>
                  <a:pt x="301556" y="57150"/>
                  <a:pt x="314325" y="69919"/>
                  <a:pt x="314325" y="85725"/>
                </a:cubicBezTo>
                <a:cubicBezTo>
                  <a:pt x="314325" y="101531"/>
                  <a:pt x="301556" y="114300"/>
                  <a:pt x="285750" y="114300"/>
                </a:cubicBezTo>
                <a:lnTo>
                  <a:pt x="277178" y="114300"/>
                </a:lnTo>
                <a:lnTo>
                  <a:pt x="269677" y="134928"/>
                </a:lnTo>
                <a:cubicBezTo>
                  <a:pt x="255032" y="175290"/>
                  <a:pt x="232976" y="212169"/>
                  <a:pt x="205204" y="243870"/>
                </a:cubicBezTo>
                <a:cubicBezTo>
                  <a:pt x="217884" y="251728"/>
                  <a:pt x="231100" y="258693"/>
                  <a:pt x="244852" y="264855"/>
                </a:cubicBezTo>
                <a:lnTo>
                  <a:pt x="289858" y="284857"/>
                </a:lnTo>
                <a:lnTo>
                  <a:pt x="345400" y="159841"/>
                </a:lnTo>
                <a:cubicBezTo>
                  <a:pt x="349954" y="149483"/>
                  <a:pt x="360224" y="142875"/>
                  <a:pt x="371475" y="142875"/>
                </a:cubicBezTo>
                <a:cubicBezTo>
                  <a:pt x="382726" y="142875"/>
                  <a:pt x="392996" y="149483"/>
                  <a:pt x="397550" y="159841"/>
                </a:cubicBezTo>
                <a:lnTo>
                  <a:pt x="511850" y="417016"/>
                </a:lnTo>
                <a:cubicBezTo>
                  <a:pt x="518279" y="431483"/>
                  <a:pt x="511760" y="448360"/>
                  <a:pt x="497384" y="454700"/>
                </a:cubicBezTo>
                <a:cubicBezTo>
                  <a:pt x="483007" y="461040"/>
                  <a:pt x="466040" y="454610"/>
                  <a:pt x="459700" y="440234"/>
                </a:cubicBezTo>
                <a:lnTo>
                  <a:pt x="441841" y="400050"/>
                </a:lnTo>
                <a:lnTo>
                  <a:pt x="301198" y="400050"/>
                </a:lnTo>
                <a:lnTo>
                  <a:pt x="283339" y="440234"/>
                </a:lnTo>
                <a:cubicBezTo>
                  <a:pt x="276910" y="454700"/>
                  <a:pt x="260032" y="461129"/>
                  <a:pt x="245656" y="454700"/>
                </a:cubicBezTo>
                <a:cubicBezTo>
                  <a:pt x="231279" y="448270"/>
                  <a:pt x="224760" y="431393"/>
                  <a:pt x="231190" y="417016"/>
                </a:cubicBezTo>
                <a:lnTo>
                  <a:pt x="266730" y="337096"/>
                </a:lnTo>
                <a:lnTo>
                  <a:pt x="221724" y="317093"/>
                </a:lnTo>
                <a:cubicBezTo>
                  <a:pt x="201186" y="307985"/>
                  <a:pt x="181541" y="297091"/>
                  <a:pt x="162967" y="284589"/>
                </a:cubicBezTo>
                <a:cubicBezTo>
                  <a:pt x="143947" y="299948"/>
                  <a:pt x="123140" y="313343"/>
                  <a:pt x="100905" y="324505"/>
                </a:cubicBezTo>
                <a:lnTo>
                  <a:pt x="69919" y="339864"/>
                </a:lnTo>
                <a:cubicBezTo>
                  <a:pt x="55811" y="346918"/>
                  <a:pt x="38666" y="341203"/>
                  <a:pt x="31611" y="327094"/>
                </a:cubicBezTo>
                <a:cubicBezTo>
                  <a:pt x="24557" y="312986"/>
                  <a:pt x="30272" y="295841"/>
                  <a:pt x="44381" y="288786"/>
                </a:cubicBezTo>
                <a:lnTo>
                  <a:pt x="75188" y="273338"/>
                </a:lnTo>
                <a:cubicBezTo>
                  <a:pt x="89743" y="266015"/>
                  <a:pt x="103584" y="257532"/>
                  <a:pt x="116622" y="248067"/>
                </a:cubicBezTo>
                <a:cubicBezTo>
                  <a:pt x="104299" y="236726"/>
                  <a:pt x="92690" y="224492"/>
                  <a:pt x="81885" y="211544"/>
                </a:cubicBezTo>
                <a:lnTo>
                  <a:pt x="72866" y="200650"/>
                </a:lnTo>
                <a:cubicBezTo>
                  <a:pt x="62776" y="188506"/>
                  <a:pt x="64383" y="170468"/>
                  <a:pt x="76527" y="160377"/>
                </a:cubicBezTo>
                <a:cubicBezTo>
                  <a:pt x="88672" y="150287"/>
                  <a:pt x="106710" y="151894"/>
                  <a:pt x="116800" y="164038"/>
                </a:cubicBezTo>
                <a:lnTo>
                  <a:pt x="125909" y="174933"/>
                </a:lnTo>
                <a:cubicBezTo>
                  <a:pt x="136178" y="187345"/>
                  <a:pt x="147429" y="198864"/>
                  <a:pt x="159306" y="209490"/>
                </a:cubicBezTo>
                <a:cubicBezTo>
                  <a:pt x="183862" y="182344"/>
                  <a:pt x="203240" y="150465"/>
                  <a:pt x="216009" y="115372"/>
                </a:cubicBezTo>
                <a:lnTo>
                  <a:pt x="216456" y="114300"/>
                </a:lnTo>
                <a:lnTo>
                  <a:pt x="28664" y="114300"/>
                </a:lnTo>
                <a:cubicBezTo>
                  <a:pt x="12769" y="114300"/>
                  <a:pt x="0" y="101531"/>
                  <a:pt x="0" y="85725"/>
                </a:cubicBezTo>
                <a:cubicBezTo>
                  <a:pt x="0" y="69919"/>
                  <a:pt x="12769" y="57150"/>
                  <a:pt x="28575" y="57150"/>
                </a:cubicBezTo>
                <a:lnTo>
                  <a:pt x="114300" y="57150"/>
                </a:lnTo>
                <a:lnTo>
                  <a:pt x="114300" y="28575"/>
                </a:lnTo>
                <a:cubicBezTo>
                  <a:pt x="114300" y="12769"/>
                  <a:pt x="127069" y="0"/>
                  <a:pt x="142875" y="0"/>
                </a:cubicBezTo>
                <a:close/>
                <a:moveTo>
                  <a:pt x="371475" y="241816"/>
                </a:moveTo>
                <a:lnTo>
                  <a:pt x="326559" y="342900"/>
                </a:lnTo>
                <a:lnTo>
                  <a:pt x="416391" y="342900"/>
                </a:lnTo>
                <a:lnTo>
                  <a:pt x="371475" y="241816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9017000" y="2222500"/>
            <a:ext cx="622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82000" y="2794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Natural Language Processing — for understanding patient queries in conversational language and extracting intent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651000" y="53340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" y="59055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symptom assessment and personalized recommendations based on patient history and medical data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28000" y="5016500"/>
            <a:ext cx="7366000" cy="2794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3425" y="533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9017000" y="5334000"/>
            <a:ext cx="622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EHR Integration API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82000" y="59055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accessing patient medical records and providing context-aware responses with full health history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of the AI Chatbot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65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2159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950" y="2476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0"/>
                </a:moveTo>
                <a:cubicBezTo>
                  <a:pt x="105787" y="0"/>
                  <a:pt x="114300" y="8513"/>
                  <a:pt x="114300" y="19050"/>
                </a:cubicBezTo>
                <a:lnTo>
                  <a:pt x="114300" y="38100"/>
                </a:lnTo>
                <a:lnTo>
                  <a:pt x="190500" y="38100"/>
                </a:lnTo>
                <a:cubicBezTo>
                  <a:pt x="201037" y="38100"/>
                  <a:pt x="209550" y="46613"/>
                  <a:pt x="209550" y="57150"/>
                </a:cubicBezTo>
                <a:cubicBezTo>
                  <a:pt x="209550" y="67687"/>
                  <a:pt x="201037" y="76200"/>
                  <a:pt x="190500" y="76200"/>
                </a:cubicBezTo>
                <a:lnTo>
                  <a:pt x="184785" y="76200"/>
                </a:lnTo>
                <a:lnTo>
                  <a:pt x="179784" y="89952"/>
                </a:lnTo>
                <a:cubicBezTo>
                  <a:pt x="170021" y="116860"/>
                  <a:pt x="155317" y="141446"/>
                  <a:pt x="136803" y="162580"/>
                </a:cubicBezTo>
                <a:cubicBezTo>
                  <a:pt x="145256" y="167819"/>
                  <a:pt x="154067" y="172462"/>
                  <a:pt x="163235" y="176570"/>
                </a:cubicBezTo>
                <a:lnTo>
                  <a:pt x="193238" y="189905"/>
                </a:lnTo>
                <a:lnTo>
                  <a:pt x="230267" y="106561"/>
                </a:lnTo>
                <a:cubicBezTo>
                  <a:pt x="233303" y="99655"/>
                  <a:pt x="240149" y="95250"/>
                  <a:pt x="247650" y="95250"/>
                </a:cubicBezTo>
                <a:cubicBezTo>
                  <a:pt x="255151" y="95250"/>
                  <a:pt x="261997" y="99655"/>
                  <a:pt x="265033" y="106561"/>
                </a:cubicBezTo>
                <a:lnTo>
                  <a:pt x="341233" y="278011"/>
                </a:lnTo>
                <a:cubicBezTo>
                  <a:pt x="345519" y="287655"/>
                  <a:pt x="341174" y="298906"/>
                  <a:pt x="331589" y="303133"/>
                </a:cubicBezTo>
                <a:cubicBezTo>
                  <a:pt x="322005" y="307360"/>
                  <a:pt x="310694" y="303074"/>
                  <a:pt x="306467" y="293489"/>
                </a:cubicBezTo>
                <a:lnTo>
                  <a:pt x="294561" y="266700"/>
                </a:lnTo>
                <a:lnTo>
                  <a:pt x="200799" y="266700"/>
                </a:lnTo>
                <a:lnTo>
                  <a:pt x="188893" y="293489"/>
                </a:lnTo>
                <a:cubicBezTo>
                  <a:pt x="184606" y="303133"/>
                  <a:pt x="173355" y="307419"/>
                  <a:pt x="163770" y="303133"/>
                </a:cubicBezTo>
                <a:cubicBezTo>
                  <a:pt x="154186" y="298847"/>
                  <a:pt x="149840" y="287595"/>
                  <a:pt x="154126" y="278011"/>
                </a:cubicBezTo>
                <a:lnTo>
                  <a:pt x="177820" y="224730"/>
                </a:lnTo>
                <a:lnTo>
                  <a:pt x="147816" y="211395"/>
                </a:lnTo>
                <a:cubicBezTo>
                  <a:pt x="134124" y="205323"/>
                  <a:pt x="121027" y="198060"/>
                  <a:pt x="108645" y="189726"/>
                </a:cubicBezTo>
                <a:cubicBezTo>
                  <a:pt x="95964" y="199965"/>
                  <a:pt x="82094" y="208895"/>
                  <a:pt x="67270" y="216337"/>
                </a:cubicBezTo>
                <a:lnTo>
                  <a:pt x="46613" y="226576"/>
                </a:lnTo>
                <a:cubicBezTo>
                  <a:pt x="37207" y="231279"/>
                  <a:pt x="25777" y="227469"/>
                  <a:pt x="21074" y="218063"/>
                </a:cubicBezTo>
                <a:cubicBezTo>
                  <a:pt x="16371" y="208657"/>
                  <a:pt x="20181" y="197227"/>
                  <a:pt x="29587" y="192524"/>
                </a:cubicBezTo>
                <a:lnTo>
                  <a:pt x="50125" y="182225"/>
                </a:lnTo>
                <a:cubicBezTo>
                  <a:pt x="59829" y="177344"/>
                  <a:pt x="69056" y="171688"/>
                  <a:pt x="77748" y="165378"/>
                </a:cubicBezTo>
                <a:cubicBezTo>
                  <a:pt x="69533" y="157817"/>
                  <a:pt x="61793" y="149662"/>
                  <a:pt x="54590" y="141030"/>
                </a:cubicBezTo>
                <a:lnTo>
                  <a:pt x="48578" y="133767"/>
                </a:lnTo>
                <a:cubicBezTo>
                  <a:pt x="41850" y="125670"/>
                  <a:pt x="42922" y="113645"/>
                  <a:pt x="51018" y="106918"/>
                </a:cubicBezTo>
                <a:cubicBezTo>
                  <a:pt x="59115" y="100191"/>
                  <a:pt x="71140" y="101263"/>
                  <a:pt x="77867" y="109359"/>
                </a:cubicBezTo>
                <a:lnTo>
                  <a:pt x="83939" y="116622"/>
                </a:lnTo>
                <a:cubicBezTo>
                  <a:pt x="90785" y="124897"/>
                  <a:pt x="98286" y="132576"/>
                  <a:pt x="106204" y="139660"/>
                </a:cubicBezTo>
                <a:cubicBezTo>
                  <a:pt x="122575" y="121563"/>
                  <a:pt x="135493" y="100310"/>
                  <a:pt x="144006" y="76914"/>
                </a:cubicBezTo>
                <a:lnTo>
                  <a:pt x="144304" y="76200"/>
                </a:lnTo>
                <a:lnTo>
                  <a:pt x="19110" y="76200"/>
                </a:lnTo>
                <a:cubicBezTo>
                  <a:pt x="8513" y="76200"/>
                  <a:pt x="0" y="67687"/>
                  <a:pt x="0" y="57150"/>
                </a:cubicBezTo>
                <a:cubicBezTo>
                  <a:pt x="0" y="46613"/>
                  <a:pt x="8513" y="38100"/>
                  <a:pt x="19050" y="38100"/>
                </a:cubicBezTo>
                <a:lnTo>
                  <a:pt x="76200" y="38100"/>
                </a:lnTo>
                <a:lnTo>
                  <a:pt x="76200" y="19050"/>
                </a:lnTo>
                <a:cubicBezTo>
                  <a:pt x="76200" y="8513"/>
                  <a:pt x="84713" y="0"/>
                  <a:pt x="95250" y="0"/>
                </a:cubicBezTo>
                <a:close/>
                <a:moveTo>
                  <a:pt x="247650" y="161211"/>
                </a:moveTo>
                <a:lnTo>
                  <a:pt x="217706" y="228600"/>
                </a:lnTo>
                <a:lnTo>
                  <a:pt x="277594" y="228600"/>
                </a:lnTo>
                <a:lnTo>
                  <a:pt x="247650" y="161211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241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47800" y="28448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patient queries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2159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9000" y="247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1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8448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Accessibility for diverse populations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68000" y="2159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83900" y="2476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80962" y="76200"/>
                </a:moveTo>
                <a:cubicBezTo>
                  <a:pt x="80962" y="36773"/>
                  <a:pt x="112973" y="4763"/>
                  <a:pt x="152400" y="4763"/>
                </a:cubicBezTo>
                <a:cubicBezTo>
                  <a:pt x="191827" y="4763"/>
                  <a:pt x="223838" y="36773"/>
                  <a:pt x="223838" y="76200"/>
                </a:cubicBezTo>
                <a:cubicBezTo>
                  <a:pt x="223838" y="115627"/>
                  <a:pt x="191827" y="147638"/>
                  <a:pt x="152400" y="147638"/>
                </a:cubicBezTo>
                <a:cubicBezTo>
                  <a:pt x="112973" y="147638"/>
                  <a:pt x="80962" y="115627"/>
                  <a:pt x="80962" y="76200"/>
                </a:cubicBezTo>
                <a:close/>
                <a:moveTo>
                  <a:pt x="28575" y="287119"/>
                </a:moveTo>
                <a:cubicBezTo>
                  <a:pt x="28575" y="228481"/>
                  <a:pt x="76081" y="180975"/>
                  <a:pt x="134719" y="180975"/>
                </a:cubicBezTo>
                <a:lnTo>
                  <a:pt x="170081" y="180975"/>
                </a:lnTo>
                <a:cubicBezTo>
                  <a:pt x="228719" y="180975"/>
                  <a:pt x="276225" y="228481"/>
                  <a:pt x="276225" y="287119"/>
                </a:cubicBezTo>
                <a:cubicBezTo>
                  <a:pt x="276225" y="296882"/>
                  <a:pt x="268307" y="304800"/>
                  <a:pt x="258544" y="304800"/>
                </a:cubicBezTo>
                <a:lnTo>
                  <a:pt x="46256" y="304800"/>
                </a:lnTo>
                <a:cubicBezTo>
                  <a:pt x="36493" y="304800"/>
                  <a:pt x="28575" y="296882"/>
                  <a:pt x="28575" y="287119"/>
                </a:cubicBezTo>
                <a:close/>
                <a:moveTo>
                  <a:pt x="364569" y="78998"/>
                </a:moveTo>
                <a:lnTo>
                  <a:pt x="316944" y="155198"/>
                </a:lnTo>
                <a:cubicBezTo>
                  <a:pt x="314444" y="159187"/>
                  <a:pt x="310158" y="161687"/>
                  <a:pt x="305455" y="161925"/>
                </a:cubicBezTo>
                <a:cubicBezTo>
                  <a:pt x="300752" y="162163"/>
                  <a:pt x="296228" y="160020"/>
                  <a:pt x="293430" y="156210"/>
                </a:cubicBezTo>
                <a:lnTo>
                  <a:pt x="264855" y="118110"/>
                </a:lnTo>
                <a:cubicBezTo>
                  <a:pt x="260092" y="111800"/>
                  <a:pt x="261402" y="102870"/>
                  <a:pt x="267712" y="98108"/>
                </a:cubicBezTo>
                <a:cubicBezTo>
                  <a:pt x="274022" y="93345"/>
                  <a:pt x="282952" y="94655"/>
                  <a:pt x="287715" y="100965"/>
                </a:cubicBezTo>
                <a:lnTo>
                  <a:pt x="303788" y="122396"/>
                </a:lnTo>
                <a:lnTo>
                  <a:pt x="340340" y="63877"/>
                </a:lnTo>
                <a:cubicBezTo>
                  <a:pt x="344507" y="57210"/>
                  <a:pt x="353318" y="55126"/>
                  <a:pt x="360045" y="59353"/>
                </a:cubicBezTo>
                <a:cubicBezTo>
                  <a:pt x="366772" y="63579"/>
                  <a:pt x="368796" y="72330"/>
                  <a:pt x="364569" y="79058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1353800" y="2413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Recommendations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353800" y="28448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Based on medical history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3683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0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1447800" y="393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Detection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47800" y="43688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Immediate escalation protocols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15000" y="3683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90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93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EHR Integration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43688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Context-aware responses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668000" y="3683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220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11353800" y="3937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Dashboard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353800" y="43688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improvement insights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spc="3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62000" y="5842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6000" y="615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1016000" y="67056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Wait Times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16000" y="7137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 responses eliminate long waiting periods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715000" y="5842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5969000" y="615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1294" y="69136"/>
                </a:moveTo>
                <a:lnTo>
                  <a:pt x="203200" y="85566"/>
                </a:lnTo>
                <a:lnTo>
                  <a:pt x="215106" y="69136"/>
                </a:lnTo>
                <a:cubicBezTo>
                  <a:pt x="234950" y="41672"/>
                  <a:pt x="266859" y="25400"/>
                  <a:pt x="300752" y="25400"/>
                </a:cubicBezTo>
                <a:cubicBezTo>
                  <a:pt x="359093" y="25400"/>
                  <a:pt x="406400" y="72708"/>
                  <a:pt x="406400" y="131048"/>
                </a:cubicBezTo>
                <a:lnTo>
                  <a:pt x="406400" y="133112"/>
                </a:lnTo>
                <a:cubicBezTo>
                  <a:pt x="406400" y="222171"/>
                  <a:pt x="295354" y="325596"/>
                  <a:pt x="237411" y="369808"/>
                </a:cubicBezTo>
                <a:cubicBezTo>
                  <a:pt x="227568" y="377269"/>
                  <a:pt x="215503" y="381000"/>
                  <a:pt x="203200" y="381000"/>
                </a:cubicBezTo>
                <a:cubicBezTo>
                  <a:pt x="190897" y="381000"/>
                  <a:pt x="178753" y="377349"/>
                  <a:pt x="168989" y="369808"/>
                </a:cubicBezTo>
                <a:cubicBezTo>
                  <a:pt x="111046" y="325596"/>
                  <a:pt x="0" y="222171"/>
                  <a:pt x="0" y="133112"/>
                </a:cubicBezTo>
                <a:lnTo>
                  <a:pt x="0" y="131048"/>
                </a:lnTo>
                <a:cubicBezTo>
                  <a:pt x="0" y="72708"/>
                  <a:pt x="47308" y="25400"/>
                  <a:pt x="105648" y="25400"/>
                </a:cubicBezTo>
                <a:cubicBezTo>
                  <a:pt x="139541" y="25400"/>
                  <a:pt x="171450" y="41672"/>
                  <a:pt x="191294" y="69136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0" name="Text 38"/>
          <p:cNvSpPr/>
          <p:nvPr/>
        </p:nvSpPr>
        <p:spPr>
          <a:xfrm>
            <a:off x="5969000" y="67056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Engagement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969000" y="7137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Proactive communication and support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668000" y="5842000"/>
            <a:ext cx="4826000" cy="2032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10896600" y="6159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10922000" y="67056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Decreased Admin Burden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0922000" y="71374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Automated handling of routine inquiries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 &amp; Mobile Deployment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Website and Mobile Application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68000" y="1778000"/>
            <a:ext cx="4826000" cy="5080000"/>
          </a:xfrm>
          <a:prstGeom prst="roundRect">
            <a:avLst>
              <a:gd name="adj" fmla="val 12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00000" y="330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90500" y="476250"/>
                </a:moveTo>
                <a:lnTo>
                  <a:pt x="36463" y="476250"/>
                </a:lnTo>
                <a:cubicBezTo>
                  <a:pt x="-595" y="476250"/>
                  <a:pt x="-23366" y="435918"/>
                  <a:pt x="-4316" y="404068"/>
                </a:cubicBezTo>
                <a:lnTo>
                  <a:pt x="74414" y="272802"/>
                </a:lnTo>
                <a:cubicBezTo>
                  <a:pt x="87362" y="251222"/>
                  <a:pt x="110579" y="238125"/>
                  <a:pt x="135731" y="238125"/>
                </a:cubicBezTo>
                <a:lnTo>
                  <a:pt x="277118" y="238125"/>
                </a:lnTo>
                <a:cubicBezTo>
                  <a:pt x="390376" y="46286"/>
                  <a:pt x="559296" y="36612"/>
                  <a:pt x="672257" y="53132"/>
                </a:cubicBezTo>
                <a:cubicBezTo>
                  <a:pt x="691307" y="55959"/>
                  <a:pt x="706189" y="70842"/>
                  <a:pt x="708868" y="89743"/>
                </a:cubicBezTo>
                <a:cubicBezTo>
                  <a:pt x="725388" y="202704"/>
                  <a:pt x="715714" y="371624"/>
                  <a:pt x="523875" y="484882"/>
                </a:cubicBezTo>
                <a:lnTo>
                  <a:pt x="523875" y="626269"/>
                </a:lnTo>
                <a:cubicBezTo>
                  <a:pt x="523875" y="651421"/>
                  <a:pt x="510778" y="674638"/>
                  <a:pt x="489198" y="687586"/>
                </a:cubicBezTo>
                <a:lnTo>
                  <a:pt x="357932" y="766316"/>
                </a:lnTo>
                <a:cubicBezTo>
                  <a:pt x="326231" y="785366"/>
                  <a:pt x="285750" y="762446"/>
                  <a:pt x="285750" y="725537"/>
                </a:cubicBezTo>
                <a:lnTo>
                  <a:pt x="285750" y="571500"/>
                </a:lnTo>
                <a:cubicBezTo>
                  <a:pt x="285750" y="518964"/>
                  <a:pt x="243036" y="476250"/>
                  <a:pt x="190500" y="476250"/>
                </a:cubicBezTo>
                <a:lnTo>
                  <a:pt x="190351" y="476250"/>
                </a:lnTo>
                <a:close/>
                <a:moveTo>
                  <a:pt x="595313" y="238125"/>
                </a:moveTo>
                <a:cubicBezTo>
                  <a:pt x="595313" y="198698"/>
                  <a:pt x="563302" y="166688"/>
                  <a:pt x="523875" y="166688"/>
                </a:cubicBezTo>
                <a:cubicBezTo>
                  <a:pt x="484448" y="166688"/>
                  <a:pt x="452438" y="198698"/>
                  <a:pt x="452438" y="238125"/>
                </a:cubicBezTo>
                <a:cubicBezTo>
                  <a:pt x="452438" y="277552"/>
                  <a:pt x="484448" y="309563"/>
                  <a:pt x="523875" y="309563"/>
                </a:cubicBezTo>
                <a:cubicBezTo>
                  <a:pt x="563302" y="309563"/>
                  <a:pt x="595313" y="277552"/>
                  <a:pt x="595313" y="23812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4445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 &amp; Mobile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Deployment</a:t>
            </a:r>
            <a:endParaRPr lang="en-US" sz="1800" dirty="0"/>
          </a:p>
        </p:txBody>
      </p:sp>
      <p:pic>
        <p:nvPicPr>
          <p:cNvPr id="15" name="Image 0" descr="https://kimi-img.moonshot.cn/pub/slides/26-06-03-11:11:40-d8fpmr767m2upl6e8d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2232" y="1778000"/>
            <a:ext cx="7073900" cy="53848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Video Demonstration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14732000" cy="5080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0" y="355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508000"/>
                </a:moveTo>
                <a:cubicBezTo>
                  <a:pt x="0" y="227627"/>
                  <a:pt x="227627" y="0"/>
                  <a:pt x="508000" y="0"/>
                </a:cubicBezTo>
                <a:cubicBezTo>
                  <a:pt x="788373" y="0"/>
                  <a:pt x="1016000" y="227627"/>
                  <a:pt x="1016000" y="508000"/>
                </a:cubicBezTo>
                <a:cubicBezTo>
                  <a:pt x="1016000" y="788373"/>
                  <a:pt x="788373" y="1016000"/>
                  <a:pt x="508000" y="1016000"/>
                </a:cubicBezTo>
                <a:cubicBezTo>
                  <a:pt x="227627" y="1016000"/>
                  <a:pt x="0" y="788373"/>
                  <a:pt x="0" y="508000"/>
                </a:cubicBezTo>
                <a:close/>
                <a:moveTo>
                  <a:pt x="373658" y="291902"/>
                </a:moveTo>
                <a:cubicBezTo>
                  <a:pt x="358577" y="300236"/>
                  <a:pt x="349250" y="316309"/>
                  <a:pt x="349250" y="333375"/>
                </a:cubicBezTo>
                <a:lnTo>
                  <a:pt x="349250" y="682625"/>
                </a:lnTo>
                <a:cubicBezTo>
                  <a:pt x="349250" y="699889"/>
                  <a:pt x="358577" y="715764"/>
                  <a:pt x="373658" y="724098"/>
                </a:cubicBezTo>
                <a:cubicBezTo>
                  <a:pt x="388739" y="732433"/>
                  <a:pt x="406995" y="732234"/>
                  <a:pt x="421878" y="723106"/>
                </a:cubicBezTo>
                <a:lnTo>
                  <a:pt x="707628" y="548481"/>
                </a:lnTo>
                <a:cubicBezTo>
                  <a:pt x="721717" y="539750"/>
                  <a:pt x="730448" y="524470"/>
                  <a:pt x="730448" y="507802"/>
                </a:cubicBezTo>
                <a:cubicBezTo>
                  <a:pt x="730448" y="491133"/>
                  <a:pt x="721717" y="475853"/>
                  <a:pt x="707628" y="467122"/>
                </a:cubicBezTo>
                <a:lnTo>
                  <a:pt x="421878" y="292497"/>
                </a:lnTo>
                <a:cubicBezTo>
                  <a:pt x="407194" y="283567"/>
                  <a:pt x="388739" y="283170"/>
                  <a:pt x="373658" y="29150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4318000" y="482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VIDEO PLACEHOLDER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5588000"/>
            <a:ext cx="7620000" cy="762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6950" y="5816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5334000" y="5715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u="sng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to view Website Video 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Website implementation showcase.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Customize the link above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your website video URL.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 Video Demonstration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14732000" cy="5080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254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47000" y="3556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31750" y="127000"/>
                </a:moveTo>
                <a:cubicBezTo>
                  <a:pt x="31750" y="56952"/>
                  <a:pt x="88702" y="0"/>
                  <a:pt x="158750" y="0"/>
                </a:cubicBezTo>
                <a:lnTo>
                  <a:pt x="603250" y="0"/>
                </a:lnTo>
                <a:cubicBezTo>
                  <a:pt x="673298" y="0"/>
                  <a:pt x="730250" y="56952"/>
                  <a:pt x="730250" y="127000"/>
                </a:cubicBezTo>
                <a:lnTo>
                  <a:pt x="730250" y="889000"/>
                </a:lnTo>
                <a:cubicBezTo>
                  <a:pt x="730250" y="959048"/>
                  <a:pt x="673298" y="1016000"/>
                  <a:pt x="603250" y="1016000"/>
                </a:cubicBezTo>
                <a:lnTo>
                  <a:pt x="158750" y="1016000"/>
                </a:lnTo>
                <a:cubicBezTo>
                  <a:pt x="88702" y="1016000"/>
                  <a:pt x="31750" y="959048"/>
                  <a:pt x="31750" y="889000"/>
                </a:cubicBezTo>
                <a:lnTo>
                  <a:pt x="31750" y="127000"/>
                </a:lnTo>
                <a:close/>
                <a:moveTo>
                  <a:pt x="158750" y="127000"/>
                </a:moveTo>
                <a:lnTo>
                  <a:pt x="158750" y="730250"/>
                </a:lnTo>
                <a:lnTo>
                  <a:pt x="603250" y="730250"/>
                </a:lnTo>
                <a:lnTo>
                  <a:pt x="603250" y="127000"/>
                </a:lnTo>
                <a:lnTo>
                  <a:pt x="158750" y="127000"/>
                </a:lnTo>
                <a:close/>
                <a:moveTo>
                  <a:pt x="381000" y="936625"/>
                </a:moveTo>
                <a:cubicBezTo>
                  <a:pt x="416123" y="936625"/>
                  <a:pt x="444500" y="908248"/>
                  <a:pt x="444500" y="873125"/>
                </a:cubicBezTo>
                <a:cubicBezTo>
                  <a:pt x="444500" y="838002"/>
                  <a:pt x="416123" y="809625"/>
                  <a:pt x="381000" y="809625"/>
                </a:cubicBezTo>
                <a:cubicBezTo>
                  <a:pt x="345877" y="809625"/>
                  <a:pt x="317500" y="838002"/>
                  <a:pt x="317500" y="873125"/>
                </a:cubicBezTo>
                <a:cubicBezTo>
                  <a:pt x="317500" y="908248"/>
                  <a:pt x="345877" y="936625"/>
                  <a:pt x="381000" y="93662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3556000" y="4826000"/>
            <a:ext cx="914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3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 VIDEO PLACEHOLDER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8000" y="5588000"/>
            <a:ext cx="7620000" cy="762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6950" y="5816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5334000" y="5715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u="sng" dirty="0">
                <a:solidFill>
                  <a:srgbClr val="22D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to view Mobile App Video 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Mobile application implementation showcase.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Customize the link above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your mobile app video URL.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635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Quality Assurance &amp; Validation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Unit, Integration, System, UAT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 Performance Testing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68000" y="1778000"/>
            <a:ext cx="4826000" cy="5080000"/>
          </a:xfrm>
          <a:prstGeom prst="roundRect">
            <a:avLst>
              <a:gd name="adj" fmla="val 12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700000" y="330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09885" y="13990"/>
                </a:moveTo>
                <a:cubicBezTo>
                  <a:pt x="491282" y="-4614"/>
                  <a:pt x="461070" y="-4614"/>
                  <a:pt x="442466" y="13990"/>
                </a:cubicBezTo>
                <a:cubicBezTo>
                  <a:pt x="423863" y="32593"/>
                  <a:pt x="423863" y="62805"/>
                  <a:pt x="442466" y="81409"/>
                </a:cubicBezTo>
                <a:lnTo>
                  <a:pt x="456456" y="95250"/>
                </a:lnTo>
                <a:lnTo>
                  <a:pt x="41821" y="509885"/>
                </a:lnTo>
                <a:cubicBezTo>
                  <a:pt x="15032" y="536674"/>
                  <a:pt x="0" y="572988"/>
                  <a:pt x="0" y="610939"/>
                </a:cubicBezTo>
                <a:lnTo>
                  <a:pt x="0" y="619125"/>
                </a:lnTo>
                <a:cubicBezTo>
                  <a:pt x="0" y="698004"/>
                  <a:pt x="63996" y="762000"/>
                  <a:pt x="142875" y="762000"/>
                </a:cubicBezTo>
                <a:lnTo>
                  <a:pt x="151061" y="762000"/>
                </a:lnTo>
                <a:cubicBezTo>
                  <a:pt x="189012" y="762000"/>
                  <a:pt x="225326" y="746968"/>
                  <a:pt x="252115" y="720179"/>
                </a:cubicBezTo>
                <a:lnTo>
                  <a:pt x="666750" y="305544"/>
                </a:lnTo>
                <a:lnTo>
                  <a:pt x="680740" y="319534"/>
                </a:lnTo>
                <a:cubicBezTo>
                  <a:pt x="699343" y="338137"/>
                  <a:pt x="729555" y="338137"/>
                  <a:pt x="748159" y="319534"/>
                </a:cubicBezTo>
                <a:cubicBezTo>
                  <a:pt x="766763" y="300930"/>
                  <a:pt x="766763" y="270718"/>
                  <a:pt x="748159" y="252115"/>
                </a:cubicBezTo>
                <a:lnTo>
                  <a:pt x="510034" y="13990"/>
                </a:lnTo>
                <a:close/>
                <a:moveTo>
                  <a:pt x="305544" y="381000"/>
                </a:moveTo>
                <a:lnTo>
                  <a:pt x="523875" y="162669"/>
                </a:lnTo>
                <a:lnTo>
                  <a:pt x="599331" y="238125"/>
                </a:lnTo>
                <a:lnTo>
                  <a:pt x="456456" y="381000"/>
                </a:lnTo>
                <a:lnTo>
                  <a:pt x="305395" y="3810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4445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Quality Assurance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&amp; Validation</a:t>
            </a:r>
            <a:endParaRPr lang="en-US" sz="1800" dirty="0"/>
          </a:p>
        </p:txBody>
      </p:sp>
      <p:pic>
        <p:nvPicPr>
          <p:cNvPr id="15" name="Image 0" descr="https://kimi-img.moonshot.cn/pub/slides/26-06-03-11:12:32-d8fpn80h9473ebfe49r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102" y="1697033"/>
            <a:ext cx="7613661" cy="5241934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889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testing approach covering all system layers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2794000" cy="292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8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548" y="-2480"/>
                </a:moveTo>
                <a:cubicBezTo>
                  <a:pt x="242193" y="-13791"/>
                  <a:pt x="266402" y="-13791"/>
                  <a:pt x="286048" y="-2480"/>
                </a:cubicBezTo>
                <a:lnTo>
                  <a:pt x="460573" y="98227"/>
                </a:lnTo>
                <a:cubicBezTo>
                  <a:pt x="480219" y="109538"/>
                  <a:pt x="492323" y="130572"/>
                  <a:pt x="492323" y="153194"/>
                </a:cubicBezTo>
                <a:lnTo>
                  <a:pt x="492323" y="354608"/>
                </a:lnTo>
                <a:cubicBezTo>
                  <a:pt x="492323" y="377329"/>
                  <a:pt x="480219" y="398264"/>
                  <a:pt x="460573" y="409575"/>
                </a:cubicBezTo>
                <a:lnTo>
                  <a:pt x="286048" y="510480"/>
                </a:lnTo>
                <a:cubicBezTo>
                  <a:pt x="266402" y="521791"/>
                  <a:pt x="242193" y="521791"/>
                  <a:pt x="222548" y="510480"/>
                </a:cubicBezTo>
                <a:lnTo>
                  <a:pt x="48121" y="409773"/>
                </a:lnTo>
                <a:cubicBezTo>
                  <a:pt x="28476" y="398463"/>
                  <a:pt x="16371" y="377428"/>
                  <a:pt x="16371" y="354806"/>
                </a:cubicBezTo>
                <a:lnTo>
                  <a:pt x="16371" y="153392"/>
                </a:lnTo>
                <a:cubicBezTo>
                  <a:pt x="16371" y="130671"/>
                  <a:pt x="28476" y="109736"/>
                  <a:pt x="48121" y="98425"/>
                </a:cubicBezTo>
                <a:lnTo>
                  <a:pt x="222548" y="-2480"/>
                </a:lnTo>
                <a:close/>
                <a:moveTo>
                  <a:pt x="428724" y="354707"/>
                </a:moveTo>
                <a:lnTo>
                  <a:pt x="428724" y="189905"/>
                </a:lnTo>
                <a:lnTo>
                  <a:pt x="286048" y="272256"/>
                </a:lnTo>
                <a:lnTo>
                  <a:pt x="286048" y="437059"/>
                </a:lnTo>
                <a:lnTo>
                  <a:pt x="428724" y="354707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238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2500" y="3619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Modules tested for isolated functionality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10000" y="2222500"/>
            <a:ext cx="2794000" cy="292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94250" y="254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16223" y="95250"/>
                </a:moveTo>
                <a:cubicBezTo>
                  <a:pt x="399752" y="95250"/>
                  <a:pt x="383778" y="99715"/>
                  <a:pt x="369788" y="107851"/>
                </a:cubicBezTo>
                <a:cubicBezTo>
                  <a:pt x="354112" y="91976"/>
                  <a:pt x="335855" y="78680"/>
                  <a:pt x="315714" y="68659"/>
                </a:cubicBezTo>
                <a:cubicBezTo>
                  <a:pt x="343694" y="44847"/>
                  <a:pt x="379313" y="31750"/>
                  <a:pt x="416223" y="31750"/>
                </a:cubicBezTo>
                <a:cubicBezTo>
                  <a:pt x="501948" y="31750"/>
                  <a:pt x="571500" y="101203"/>
                  <a:pt x="571500" y="187027"/>
                </a:cubicBezTo>
                <a:cubicBezTo>
                  <a:pt x="571500" y="228203"/>
                  <a:pt x="555129" y="267692"/>
                  <a:pt x="526058" y="296763"/>
                </a:cubicBezTo>
                <a:lnTo>
                  <a:pt x="455513" y="367308"/>
                </a:lnTo>
                <a:cubicBezTo>
                  <a:pt x="426442" y="396379"/>
                  <a:pt x="386953" y="412750"/>
                  <a:pt x="345777" y="412750"/>
                </a:cubicBezTo>
                <a:cubicBezTo>
                  <a:pt x="260052" y="412750"/>
                  <a:pt x="190500" y="343297"/>
                  <a:pt x="190500" y="257473"/>
                </a:cubicBezTo>
                <a:cubicBezTo>
                  <a:pt x="190500" y="255984"/>
                  <a:pt x="190500" y="254496"/>
                  <a:pt x="190599" y="253008"/>
                </a:cubicBezTo>
                <a:cubicBezTo>
                  <a:pt x="191095" y="235446"/>
                  <a:pt x="205680" y="221655"/>
                  <a:pt x="223242" y="222151"/>
                </a:cubicBezTo>
                <a:cubicBezTo>
                  <a:pt x="240804" y="222647"/>
                  <a:pt x="254595" y="237232"/>
                  <a:pt x="254099" y="254794"/>
                </a:cubicBezTo>
                <a:cubicBezTo>
                  <a:pt x="254099" y="255687"/>
                  <a:pt x="254099" y="256580"/>
                  <a:pt x="254099" y="257373"/>
                </a:cubicBezTo>
                <a:cubicBezTo>
                  <a:pt x="254099" y="308074"/>
                  <a:pt x="295176" y="349151"/>
                  <a:pt x="345877" y="349151"/>
                </a:cubicBezTo>
                <a:cubicBezTo>
                  <a:pt x="370185" y="349151"/>
                  <a:pt x="393502" y="339527"/>
                  <a:pt x="410766" y="322263"/>
                </a:cubicBezTo>
                <a:lnTo>
                  <a:pt x="481310" y="251718"/>
                </a:lnTo>
                <a:cubicBezTo>
                  <a:pt x="498475" y="234553"/>
                  <a:pt x="508198" y="211138"/>
                  <a:pt x="508198" y="186829"/>
                </a:cubicBezTo>
                <a:cubicBezTo>
                  <a:pt x="508198" y="136128"/>
                  <a:pt x="467122" y="95052"/>
                  <a:pt x="416421" y="95052"/>
                </a:cubicBezTo>
                <a:close/>
                <a:moveTo>
                  <a:pt x="273050" y="171946"/>
                </a:moveTo>
                <a:cubicBezTo>
                  <a:pt x="271165" y="171152"/>
                  <a:pt x="269280" y="170061"/>
                  <a:pt x="267593" y="168870"/>
                </a:cubicBezTo>
                <a:cubicBezTo>
                  <a:pt x="255091" y="162421"/>
                  <a:pt x="240804" y="158750"/>
                  <a:pt x="225822" y="158750"/>
                </a:cubicBezTo>
                <a:cubicBezTo>
                  <a:pt x="201513" y="158750"/>
                  <a:pt x="178197" y="168374"/>
                  <a:pt x="160933" y="185638"/>
                </a:cubicBezTo>
                <a:lnTo>
                  <a:pt x="90388" y="256183"/>
                </a:lnTo>
                <a:cubicBezTo>
                  <a:pt x="73223" y="273348"/>
                  <a:pt x="63500" y="296763"/>
                  <a:pt x="63500" y="321072"/>
                </a:cubicBezTo>
                <a:cubicBezTo>
                  <a:pt x="63500" y="371773"/>
                  <a:pt x="104577" y="412849"/>
                  <a:pt x="155277" y="412849"/>
                </a:cubicBezTo>
                <a:cubicBezTo>
                  <a:pt x="171648" y="412849"/>
                  <a:pt x="187623" y="408484"/>
                  <a:pt x="201613" y="400348"/>
                </a:cubicBezTo>
                <a:cubicBezTo>
                  <a:pt x="217289" y="416223"/>
                  <a:pt x="235545" y="429518"/>
                  <a:pt x="255786" y="439539"/>
                </a:cubicBezTo>
                <a:cubicBezTo>
                  <a:pt x="227806" y="463252"/>
                  <a:pt x="192286" y="476448"/>
                  <a:pt x="155277" y="476448"/>
                </a:cubicBezTo>
                <a:cubicBezTo>
                  <a:pt x="69552" y="476448"/>
                  <a:pt x="0" y="406995"/>
                  <a:pt x="0" y="321171"/>
                </a:cubicBezTo>
                <a:cubicBezTo>
                  <a:pt x="0" y="279995"/>
                  <a:pt x="16371" y="240506"/>
                  <a:pt x="45442" y="211435"/>
                </a:cubicBezTo>
                <a:lnTo>
                  <a:pt x="115987" y="140891"/>
                </a:lnTo>
                <a:cubicBezTo>
                  <a:pt x="145058" y="111820"/>
                  <a:pt x="184547" y="95448"/>
                  <a:pt x="225723" y="95448"/>
                </a:cubicBezTo>
                <a:cubicBezTo>
                  <a:pt x="311646" y="95448"/>
                  <a:pt x="381000" y="165497"/>
                  <a:pt x="381000" y="251123"/>
                </a:cubicBezTo>
                <a:cubicBezTo>
                  <a:pt x="381000" y="252413"/>
                  <a:pt x="381000" y="253702"/>
                  <a:pt x="381000" y="254992"/>
                </a:cubicBezTo>
                <a:cubicBezTo>
                  <a:pt x="380603" y="272554"/>
                  <a:pt x="366018" y="286345"/>
                  <a:pt x="348456" y="285948"/>
                </a:cubicBezTo>
                <a:cubicBezTo>
                  <a:pt x="330895" y="285552"/>
                  <a:pt x="317103" y="270966"/>
                  <a:pt x="317500" y="253405"/>
                </a:cubicBezTo>
                <a:cubicBezTo>
                  <a:pt x="317500" y="252611"/>
                  <a:pt x="317500" y="251916"/>
                  <a:pt x="317500" y="251123"/>
                </a:cubicBezTo>
                <a:cubicBezTo>
                  <a:pt x="317500" y="217686"/>
                  <a:pt x="299641" y="188317"/>
                  <a:pt x="273050" y="17214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4000500" y="3238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Testing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000500" y="3619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Cross-module interactions validated for data integrity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2222500"/>
            <a:ext cx="2794000" cy="292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4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7048500" y="3238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Testing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8500" y="3619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End-to-end scenarios verified against requirements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906000" y="2222500"/>
            <a:ext cx="2794000" cy="292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58500" y="2540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96500" y="3238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UAT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96500" y="3619500"/>
            <a:ext cx="241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Feedback collected from real-world end-users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2954000" y="2222500"/>
            <a:ext cx="2540000" cy="2921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4300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13144500" y="323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144500" y="3619500"/>
            <a:ext cx="215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Load metrics and concurrency stability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5524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5715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Testing processes including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Unit, Integration, System, and User Acceptance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testing fully executed.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&amp; Integration Testing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7112000" cy="6350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2095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000" y="2667000"/>
            <a:ext cx="6604000" cy="25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921000"/>
            <a:ext cx="660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Individual modules successfully tested for isolated functionality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component verified independently to ensure correct behavior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critical functions validated with edge case coverage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Automated test suites for regression prevention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0" y="1778000"/>
            <a:ext cx="7366000" cy="6350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3425" y="209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9017000" y="2095500"/>
            <a:ext cx="622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Testing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82000" y="2667000"/>
            <a:ext cx="6858000" cy="25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921000"/>
            <a:ext cx="6858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Cross-module interactions validated for data integrity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API endpoints tested for proper request/response handling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Database operations verified for consistency across connected modules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Third-party service integrations confirmed working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&amp; UAT Testing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7112000" cy="6350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2095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Testing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000" y="2667000"/>
            <a:ext cx="6604000" cy="25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921000"/>
            <a:ext cx="660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End-to-end scenarios verified against all system requirements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Complete user workflows tested from registration through consultation and payment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Security vulnerabilities identified and resolved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 integrity confirmed across all system operations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0" y="1778000"/>
            <a:ext cx="7366000" cy="6350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4850" y="2095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9017000" y="2095500"/>
            <a:ext cx="622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Acceptance Testing (UAT)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82000" y="2667000"/>
            <a:ext cx="6858000" cy="25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921000"/>
            <a:ext cx="6858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Feedback collected and confirmed by real-world end-users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Both patients and doctors validated the system meets their needs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Usability testing confirmed intuitive interface design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critical user journeys completed successfully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&amp; Testing Summary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20955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Testing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000" y="2667000"/>
            <a:ext cx="6604000" cy="25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857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Load metrics and concurrency stability achieved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tested under expected user loads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Response times within acceptable thresholds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22D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Scalability confirmed for growing user base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0" y="1778000"/>
            <a:ext cx="7366000" cy="3556000"/>
          </a:xfrm>
          <a:prstGeom prst="roundRect">
            <a:avLst>
              <a:gd name="adj" fmla="val 6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39150" y="2095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246817" y="232797"/>
                </a:moveTo>
                <a:cubicBezTo>
                  <a:pt x="253067" y="222796"/>
                  <a:pt x="250031" y="209580"/>
                  <a:pt x="240030" y="203240"/>
                </a:cubicBezTo>
                <a:cubicBezTo>
                  <a:pt x="230029" y="196900"/>
                  <a:pt x="216813" y="200025"/>
                  <a:pt x="210473" y="210026"/>
                </a:cubicBezTo>
                <a:lnTo>
                  <a:pt x="155644" y="297805"/>
                </a:lnTo>
                <a:lnTo>
                  <a:pt x="131534" y="265658"/>
                </a:lnTo>
                <a:cubicBezTo>
                  <a:pt x="124391" y="256193"/>
                  <a:pt x="110996" y="254228"/>
                  <a:pt x="101531" y="261372"/>
                </a:cubicBezTo>
                <a:cubicBezTo>
                  <a:pt x="92065" y="268516"/>
                  <a:pt x="90101" y="281910"/>
                  <a:pt x="97244" y="291376"/>
                </a:cubicBezTo>
                <a:lnTo>
                  <a:pt x="140107" y="348526"/>
                </a:lnTo>
                <a:cubicBezTo>
                  <a:pt x="144304" y="354151"/>
                  <a:pt x="151090" y="357366"/>
                  <a:pt x="158145" y="357098"/>
                </a:cubicBezTo>
                <a:cubicBezTo>
                  <a:pt x="165199" y="356830"/>
                  <a:pt x="171629" y="353080"/>
                  <a:pt x="175379" y="347008"/>
                </a:cubicBezTo>
                <a:lnTo>
                  <a:pt x="246817" y="23270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017000" y="2095500"/>
            <a:ext cx="622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Summary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82000" y="2667000"/>
            <a:ext cx="6858000" cy="25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8575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major tests passed successfully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Quality assurance standards met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 ready for production deployment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0B98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Confidence in reliability and performance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715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10B981">
              <a:alpha val="13333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596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3000" y="5969000"/>
            <a:ext cx="736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TESTS PASSED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40000" y="6540500"/>
            <a:ext cx="1117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system meets all quality standards and is ready for deployment.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000" y="1016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22D3EE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1778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810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826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Future Roadmap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9690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 of Achieved Results &amp;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Possible Extensions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747625" y="3302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47625" y="0"/>
                </a:moveTo>
                <a:cubicBezTo>
                  <a:pt x="73968" y="0"/>
                  <a:pt x="95250" y="21282"/>
                  <a:pt x="95250" y="47625"/>
                </a:cubicBezTo>
                <a:lnTo>
                  <a:pt x="95250" y="71438"/>
                </a:lnTo>
                <a:lnTo>
                  <a:pt x="197941" y="45839"/>
                </a:lnTo>
                <a:cubicBezTo>
                  <a:pt x="254645" y="31700"/>
                  <a:pt x="314474" y="38249"/>
                  <a:pt x="366861" y="64443"/>
                </a:cubicBezTo>
                <a:cubicBezTo>
                  <a:pt x="435769" y="98971"/>
                  <a:pt x="516880" y="98971"/>
                  <a:pt x="585788" y="64443"/>
                </a:cubicBezTo>
                <a:lnTo>
                  <a:pt x="600075" y="57299"/>
                </a:lnTo>
                <a:cubicBezTo>
                  <a:pt x="630734" y="41821"/>
                  <a:pt x="666750" y="64145"/>
                  <a:pt x="666750" y="98375"/>
                </a:cubicBezTo>
                <a:lnTo>
                  <a:pt x="666750" y="514648"/>
                </a:lnTo>
                <a:cubicBezTo>
                  <a:pt x="666750" y="534442"/>
                  <a:pt x="654397" y="552301"/>
                  <a:pt x="635794" y="559296"/>
                </a:cubicBezTo>
                <a:lnTo>
                  <a:pt x="584150" y="578644"/>
                </a:lnTo>
                <a:cubicBezTo>
                  <a:pt x="515392" y="604391"/>
                  <a:pt x="438894" y="600373"/>
                  <a:pt x="373261" y="567630"/>
                </a:cubicBezTo>
                <a:cubicBezTo>
                  <a:pt x="316855" y="539353"/>
                  <a:pt x="252115" y="532358"/>
                  <a:pt x="190946" y="547687"/>
                </a:cubicBezTo>
                <a:lnTo>
                  <a:pt x="95250" y="571500"/>
                </a:lnTo>
                <a:lnTo>
                  <a:pt x="95250" y="714375"/>
                </a:lnTo>
                <a:cubicBezTo>
                  <a:pt x="95250" y="740718"/>
                  <a:pt x="73968" y="762000"/>
                  <a:pt x="47625" y="762000"/>
                </a:cubicBezTo>
                <a:cubicBezTo>
                  <a:pt x="21282" y="762000"/>
                  <a:pt x="0" y="740718"/>
                  <a:pt x="0" y="714375"/>
                </a:cubicBezTo>
                <a:lnTo>
                  <a:pt x="0" y="47625"/>
                </a:lnTo>
                <a:cubicBezTo>
                  <a:pt x="0" y="21282"/>
                  <a:pt x="21282" y="0"/>
                  <a:pt x="47625" y="0"/>
                </a:cubicBezTo>
                <a:close/>
                <a:moveTo>
                  <a:pt x="95250" y="278457"/>
                </a:moveTo>
                <a:lnTo>
                  <a:pt x="190500" y="257770"/>
                </a:lnTo>
                <a:lnTo>
                  <a:pt x="190500" y="355253"/>
                </a:lnTo>
                <a:lnTo>
                  <a:pt x="95250" y="375940"/>
                </a:lnTo>
                <a:lnTo>
                  <a:pt x="95250" y="473422"/>
                </a:lnTo>
                <a:lnTo>
                  <a:pt x="167878" y="455265"/>
                </a:lnTo>
                <a:cubicBezTo>
                  <a:pt x="175468" y="453330"/>
                  <a:pt x="182910" y="451693"/>
                  <a:pt x="190500" y="450354"/>
                </a:cubicBezTo>
                <a:lnTo>
                  <a:pt x="190500" y="355253"/>
                </a:lnTo>
                <a:lnTo>
                  <a:pt x="248394" y="342751"/>
                </a:lnTo>
                <a:cubicBezTo>
                  <a:pt x="260747" y="340072"/>
                  <a:pt x="273248" y="339030"/>
                  <a:pt x="285750" y="339626"/>
                </a:cubicBezTo>
                <a:lnTo>
                  <a:pt x="285750" y="244376"/>
                </a:lnTo>
                <a:cubicBezTo>
                  <a:pt x="305991" y="244971"/>
                  <a:pt x="326231" y="248245"/>
                  <a:pt x="345877" y="253901"/>
                </a:cubicBezTo>
                <a:lnTo>
                  <a:pt x="381000" y="264170"/>
                </a:lnTo>
                <a:lnTo>
                  <a:pt x="381000" y="363438"/>
                </a:lnTo>
                <a:lnTo>
                  <a:pt x="318939" y="345132"/>
                </a:lnTo>
                <a:cubicBezTo>
                  <a:pt x="308074" y="342007"/>
                  <a:pt x="296912" y="340072"/>
                  <a:pt x="285750" y="339477"/>
                </a:cubicBezTo>
                <a:lnTo>
                  <a:pt x="285750" y="445740"/>
                </a:lnTo>
                <a:cubicBezTo>
                  <a:pt x="318195" y="448568"/>
                  <a:pt x="350193" y="455712"/>
                  <a:pt x="381000" y="467171"/>
                </a:cubicBezTo>
                <a:lnTo>
                  <a:pt x="381000" y="363289"/>
                </a:lnTo>
                <a:lnTo>
                  <a:pt x="414784" y="373261"/>
                </a:lnTo>
                <a:cubicBezTo>
                  <a:pt x="434876" y="379214"/>
                  <a:pt x="455414" y="382786"/>
                  <a:pt x="476250" y="384274"/>
                </a:cubicBezTo>
                <a:lnTo>
                  <a:pt x="476250" y="288727"/>
                </a:lnTo>
                <a:cubicBezTo>
                  <a:pt x="464641" y="287536"/>
                  <a:pt x="453033" y="285304"/>
                  <a:pt x="441722" y="282029"/>
                </a:cubicBezTo>
                <a:lnTo>
                  <a:pt x="381000" y="264170"/>
                </a:lnTo>
                <a:lnTo>
                  <a:pt x="381000" y="171896"/>
                </a:lnTo>
                <a:cubicBezTo>
                  <a:pt x="361652" y="166241"/>
                  <a:pt x="342602" y="158800"/>
                  <a:pt x="324148" y="149572"/>
                </a:cubicBezTo>
                <a:cubicBezTo>
                  <a:pt x="311944" y="143470"/>
                  <a:pt x="298996" y="139154"/>
                  <a:pt x="285750" y="136475"/>
                </a:cubicBezTo>
                <a:lnTo>
                  <a:pt x="285750" y="244227"/>
                </a:lnTo>
                <a:cubicBezTo>
                  <a:pt x="266402" y="243632"/>
                  <a:pt x="247055" y="245418"/>
                  <a:pt x="228154" y="249585"/>
                </a:cubicBezTo>
                <a:lnTo>
                  <a:pt x="190500" y="257770"/>
                </a:lnTo>
                <a:lnTo>
                  <a:pt x="190500" y="145852"/>
                </a:lnTo>
                <a:lnTo>
                  <a:pt x="95250" y="169664"/>
                </a:lnTo>
                <a:lnTo>
                  <a:pt x="95250" y="278457"/>
                </a:lnTo>
                <a:close/>
                <a:moveTo>
                  <a:pt x="476250" y="499616"/>
                </a:moveTo>
                <a:cubicBezTo>
                  <a:pt x="501253" y="501848"/>
                  <a:pt x="526703" y="498574"/>
                  <a:pt x="550664" y="489496"/>
                </a:cubicBezTo>
                <a:lnTo>
                  <a:pt x="571500" y="481757"/>
                </a:lnTo>
                <a:lnTo>
                  <a:pt x="571500" y="375047"/>
                </a:lnTo>
                <a:lnTo>
                  <a:pt x="559743" y="377726"/>
                </a:lnTo>
                <a:cubicBezTo>
                  <a:pt x="532358" y="384125"/>
                  <a:pt x="504230" y="386209"/>
                  <a:pt x="476250" y="384423"/>
                </a:cubicBezTo>
                <a:lnTo>
                  <a:pt x="476250" y="499616"/>
                </a:lnTo>
                <a:close/>
                <a:moveTo>
                  <a:pt x="571500" y="277267"/>
                </a:moveTo>
                <a:lnTo>
                  <a:pt x="571500" y="171896"/>
                </a:lnTo>
                <a:cubicBezTo>
                  <a:pt x="540395" y="180975"/>
                  <a:pt x="508397" y="185440"/>
                  <a:pt x="476250" y="185440"/>
                </a:cubicBezTo>
                <a:lnTo>
                  <a:pt x="476250" y="288727"/>
                </a:lnTo>
                <a:cubicBezTo>
                  <a:pt x="496937" y="290810"/>
                  <a:pt x="517922" y="289471"/>
                  <a:pt x="538311" y="284857"/>
                </a:cubicBezTo>
                <a:lnTo>
                  <a:pt x="571500" y="277118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0" y="4445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Future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Roadmap</a:t>
            </a:r>
            <a:endParaRPr lang="en-US" sz="1800" dirty="0"/>
          </a:p>
        </p:txBody>
      </p:sp>
      <p:pic>
        <p:nvPicPr>
          <p:cNvPr id="14" name="Image 0" descr="https://kimi-img.moonshot.cn/pub/slides/26-06-03-11:14:01-d8fpnua5rf8qkh9bsc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0" y="2838450"/>
            <a:ext cx="7670800" cy="42291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of Achieved Results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1016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Online Medical System successfully delivered: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2540000"/>
            <a:ext cx="36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fully functional web application built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ASP.NET and React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22225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3450" y="2667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55563" y="44450"/>
                </a:move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lnTo>
                  <a:pt x="55563" y="44450"/>
                </a:lnTo>
                <a:close/>
                <a:moveTo>
                  <a:pt x="133350" y="327819"/>
                </a:moveTo>
                <a:cubicBezTo>
                  <a:pt x="145643" y="327819"/>
                  <a:pt x="155575" y="317887"/>
                  <a:pt x="155575" y="305594"/>
                </a:cubicBezTo>
                <a:cubicBezTo>
                  <a:pt x="155575" y="293301"/>
                  <a:pt x="145643" y="283369"/>
                  <a:pt x="133350" y="283369"/>
                </a:cubicBezTo>
                <a:cubicBezTo>
                  <a:pt x="121057" y="283369"/>
                  <a:pt x="111125" y="293301"/>
                  <a:pt x="111125" y="305594"/>
                </a:cubicBezTo>
                <a:cubicBezTo>
                  <a:pt x="111125" y="317887"/>
                  <a:pt x="121057" y="327819"/>
                  <a:pt x="133350" y="32781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0" y="2540000"/>
            <a:ext cx="36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cross-platform mobile application built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Flutter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0" y="2222500"/>
            <a:ext cx="4826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77550" y="2667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0" y="2540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integrated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AI-powered chatbot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24/7 patient support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2545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225" y="469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0"/>
                </a:moveTo>
                <a:cubicBezTo>
                  <a:pt x="101193" y="0"/>
                  <a:pt x="111125" y="9932"/>
                  <a:pt x="111125" y="22225"/>
                </a:cubicBezTo>
                <a:lnTo>
                  <a:pt x="111125" y="44450"/>
                </a:lnTo>
                <a:lnTo>
                  <a:pt x="200025" y="44450"/>
                </a:lnTo>
                <a:lnTo>
                  <a:pt x="200025" y="22225"/>
                </a:lnTo>
                <a:cubicBezTo>
                  <a:pt x="200025" y="9932"/>
                  <a:pt x="209957" y="0"/>
                  <a:pt x="222250" y="0"/>
                </a:cubicBezTo>
                <a:cubicBezTo>
                  <a:pt x="234543" y="0"/>
                  <a:pt x="244475" y="9932"/>
                  <a:pt x="244475" y="22225"/>
                </a:cubicBezTo>
                <a:lnTo>
                  <a:pt x="244475" y="44450"/>
                </a:lnTo>
                <a:lnTo>
                  <a:pt x="266700" y="44450"/>
                </a:lnTo>
                <a:cubicBezTo>
                  <a:pt x="291217" y="44450"/>
                  <a:pt x="311150" y="64383"/>
                  <a:pt x="311150" y="889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88900"/>
                </a:lnTo>
                <a:cubicBezTo>
                  <a:pt x="0" y="64383"/>
                  <a:pt x="19933" y="44450"/>
                  <a:pt x="44450" y="44450"/>
                </a:cubicBezTo>
                <a:lnTo>
                  <a:pt x="66675" y="44450"/>
                </a:lnTo>
                <a:lnTo>
                  <a:pt x="66675" y="22225"/>
                </a:lnTo>
                <a:cubicBezTo>
                  <a:pt x="66675" y="9932"/>
                  <a:pt x="76607" y="0"/>
                  <a:pt x="88900" y="0"/>
                </a:cubicBezTo>
                <a:close/>
                <a:moveTo>
                  <a:pt x="214193" y="158839"/>
                </a:moveTo>
                <a:cubicBezTo>
                  <a:pt x="219055" y="151061"/>
                  <a:pt x="216694" y="140781"/>
                  <a:pt x="208915" y="135850"/>
                </a:cubicBezTo>
                <a:cubicBezTo>
                  <a:pt x="201136" y="130919"/>
                  <a:pt x="190857" y="133350"/>
                  <a:pt x="185926" y="141129"/>
                </a:cubicBezTo>
                <a:lnTo>
                  <a:pt x="143282" y="209401"/>
                </a:lnTo>
                <a:lnTo>
                  <a:pt x="124529" y="184398"/>
                </a:lnTo>
                <a:cubicBezTo>
                  <a:pt x="118973" y="177036"/>
                  <a:pt x="108555" y="175508"/>
                  <a:pt x="101193" y="181064"/>
                </a:cubicBezTo>
                <a:cubicBezTo>
                  <a:pt x="93831" y="186621"/>
                  <a:pt x="92303" y="197039"/>
                  <a:pt x="97859" y="204401"/>
                </a:cubicBezTo>
                <a:lnTo>
                  <a:pt x="131197" y="248851"/>
                </a:lnTo>
                <a:cubicBezTo>
                  <a:pt x="134461" y="253226"/>
                  <a:pt x="139740" y="255726"/>
                  <a:pt x="145226" y="255518"/>
                </a:cubicBezTo>
                <a:cubicBezTo>
                  <a:pt x="150713" y="255310"/>
                  <a:pt x="155714" y="252393"/>
                  <a:pt x="158631" y="247670"/>
                </a:cubicBezTo>
                <a:lnTo>
                  <a:pt x="214193" y="15877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4572000"/>
            <a:ext cx="36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appointment, consultation, and prescription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management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15000" y="4254500"/>
            <a:ext cx="4699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3450" y="469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77000" y="4572000"/>
            <a:ext cx="36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Secure user authentication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role-based access control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68000" y="4254500"/>
            <a:ext cx="4826000" cy="1778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22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0" y="4572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centralized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electronic health records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system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6477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6667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comprehensive, integrated healthcare management platform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successfully delivered.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604859" y="8477248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8890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Development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62000" y="1460500"/>
            <a:ext cx="1270000" cy="381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Possible extensions and enhancements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2222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0988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Wearable Integration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6000" y="34798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Integration with wearable health devices (smartwatches, monitors)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2222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90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0800"/>
                </a:moveTo>
                <a:cubicBezTo>
                  <a:pt x="0" y="36751"/>
                  <a:pt x="11351" y="25400"/>
                  <a:pt x="25400" y="25400"/>
                </a:cubicBezTo>
                <a:lnTo>
                  <a:pt x="381000" y="25400"/>
                </a:lnTo>
                <a:cubicBezTo>
                  <a:pt x="395049" y="25400"/>
                  <a:pt x="406400" y="36751"/>
                  <a:pt x="406400" y="50800"/>
                </a:cubicBezTo>
                <a:cubicBezTo>
                  <a:pt x="406400" y="64849"/>
                  <a:pt x="395049" y="76200"/>
                  <a:pt x="381000" y="76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cubicBezTo>
                  <a:pt x="0" y="341551"/>
                  <a:pt x="11351" y="330200"/>
                  <a:pt x="25400" y="330200"/>
                </a:cubicBezTo>
                <a:lnTo>
                  <a:pt x="25400" y="76200"/>
                </a:lnTo>
                <a:cubicBezTo>
                  <a:pt x="11351" y="76200"/>
                  <a:pt x="0" y="64849"/>
                  <a:pt x="0" y="50800"/>
                </a:cubicBezTo>
                <a:close/>
                <a:moveTo>
                  <a:pt x="222250" y="95250"/>
                </a:move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lnTo>
                  <a:pt x="184150" y="107950"/>
                </a:lnTo>
                <a:lnTo>
                  <a:pt x="133350" y="107950"/>
                </a:lnTo>
                <a:cubicBezTo>
                  <a:pt x="122793" y="107950"/>
                  <a:pt x="114300" y="116443"/>
                  <a:pt x="114300" y="127000"/>
                </a:cubicBezTo>
                <a:cubicBezTo>
                  <a:pt x="114300" y="137557"/>
                  <a:pt x="122793" y="146050"/>
                  <a:pt x="133350" y="146050"/>
                </a:cubicBezTo>
                <a:lnTo>
                  <a:pt x="184150" y="146050"/>
                </a:lnTo>
                <a:lnTo>
                  <a:pt x="184150" y="184150"/>
                </a:lnTo>
                <a:lnTo>
                  <a:pt x="120650" y="184150"/>
                </a:lnTo>
                <a:cubicBezTo>
                  <a:pt x="110093" y="184150"/>
                  <a:pt x="101600" y="192643"/>
                  <a:pt x="101600" y="203200"/>
                </a:cubicBezTo>
                <a:cubicBezTo>
                  <a:pt x="101600" y="213757"/>
                  <a:pt x="110093" y="222250"/>
                  <a:pt x="120650" y="222250"/>
                </a:cubicBezTo>
                <a:lnTo>
                  <a:pt x="184150" y="222250"/>
                </a:lnTo>
                <a:lnTo>
                  <a:pt x="184150" y="260350"/>
                </a:lnTo>
                <a:lnTo>
                  <a:pt x="133350" y="260350"/>
                </a:lnTo>
                <a:cubicBezTo>
                  <a:pt x="122793" y="260350"/>
                  <a:pt x="114300" y="268843"/>
                  <a:pt x="114300" y="279400"/>
                </a:cubicBezTo>
                <a:cubicBezTo>
                  <a:pt x="114300" y="289957"/>
                  <a:pt x="122793" y="298450"/>
                  <a:pt x="133350" y="298450"/>
                </a:cubicBezTo>
                <a:lnTo>
                  <a:pt x="184150" y="298450"/>
                </a:lnTo>
                <a:lnTo>
                  <a:pt x="184150" y="311150"/>
                </a:lnTo>
                <a:cubicBezTo>
                  <a:pt x="184150" y="321707"/>
                  <a:pt x="192643" y="330200"/>
                  <a:pt x="203200" y="330200"/>
                </a:cubicBezTo>
                <a:cubicBezTo>
                  <a:pt x="213757" y="330200"/>
                  <a:pt x="222250" y="321707"/>
                  <a:pt x="222250" y="311150"/>
                </a:cubicBezTo>
                <a:lnTo>
                  <a:pt x="222250" y="298450"/>
                </a:lnTo>
                <a:lnTo>
                  <a:pt x="273050" y="298450"/>
                </a:lnTo>
                <a:cubicBezTo>
                  <a:pt x="283607" y="298450"/>
                  <a:pt x="292100" y="289957"/>
                  <a:pt x="292100" y="279400"/>
                </a:cubicBezTo>
                <a:cubicBezTo>
                  <a:pt x="292100" y="268843"/>
                  <a:pt x="283607" y="260350"/>
                  <a:pt x="273050" y="260350"/>
                </a:cubicBezTo>
                <a:lnTo>
                  <a:pt x="222250" y="260350"/>
                </a:lnTo>
                <a:lnTo>
                  <a:pt x="222250" y="222250"/>
                </a:lnTo>
                <a:lnTo>
                  <a:pt x="285750" y="222250"/>
                </a:lnTo>
                <a:cubicBezTo>
                  <a:pt x="296307" y="222250"/>
                  <a:pt x="304800" y="213757"/>
                  <a:pt x="304800" y="203200"/>
                </a:cubicBezTo>
                <a:cubicBezTo>
                  <a:pt x="304800" y="192643"/>
                  <a:pt x="296307" y="184150"/>
                  <a:pt x="285750" y="184150"/>
                </a:cubicBezTo>
                <a:lnTo>
                  <a:pt x="222250" y="184150"/>
                </a:lnTo>
                <a:lnTo>
                  <a:pt x="222250" y="146050"/>
                </a:lnTo>
                <a:lnTo>
                  <a:pt x="273050" y="146050"/>
                </a:lnTo>
                <a:cubicBezTo>
                  <a:pt x="283607" y="146050"/>
                  <a:pt x="292100" y="137557"/>
                  <a:pt x="292100" y="127000"/>
                </a:cubicBezTo>
                <a:cubicBezTo>
                  <a:pt x="292100" y="116443"/>
                  <a:pt x="283607" y="107950"/>
                  <a:pt x="273050" y="107950"/>
                </a:cubicBezTo>
                <a:lnTo>
                  <a:pt x="222250" y="107950"/>
                </a:lnTo>
                <a:lnTo>
                  <a:pt x="222250" y="9525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969000" y="30988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Diagnostics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69000" y="34798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AI diagnostics with medical imaging support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68000" y="2222500"/>
            <a:ext cx="4826000" cy="228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96600" y="2540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0"/>
                </a:moveTo>
                <a:cubicBezTo>
                  <a:pt x="48181" y="0"/>
                  <a:pt x="25400" y="22781"/>
                  <a:pt x="25400" y="50800"/>
                </a:cubicBezTo>
                <a:lnTo>
                  <a:pt x="25400" y="355600"/>
                </a:lnTo>
                <a:cubicBezTo>
                  <a:pt x="25400" y="383619"/>
                  <a:pt x="48181" y="406400"/>
                  <a:pt x="76200" y="406400"/>
                </a:cubicBezTo>
                <a:lnTo>
                  <a:pt x="235902" y="406400"/>
                </a:lnTo>
                <a:cubicBezTo>
                  <a:pt x="207169" y="372586"/>
                  <a:pt x="190500" y="329009"/>
                  <a:pt x="190500" y="282892"/>
                </a:cubicBezTo>
                <a:lnTo>
                  <a:pt x="190500" y="258207"/>
                </a:lnTo>
                <a:cubicBezTo>
                  <a:pt x="190500" y="230902"/>
                  <a:pt x="207963" y="206613"/>
                  <a:pt x="233918" y="197961"/>
                </a:cubicBezTo>
                <a:lnTo>
                  <a:pt x="322818" y="168354"/>
                </a:lnTo>
                <a:cubicBezTo>
                  <a:pt x="325279" y="167561"/>
                  <a:pt x="327739" y="166926"/>
                  <a:pt x="330200" y="166370"/>
                </a:cubicBezTo>
                <a:lnTo>
                  <a:pt x="330200" y="135334"/>
                </a:lnTo>
                <a:cubicBezTo>
                  <a:pt x="330200" y="121841"/>
                  <a:pt x="324882" y="108903"/>
                  <a:pt x="315357" y="99377"/>
                </a:cubicBezTo>
                <a:lnTo>
                  <a:pt x="230743" y="14843"/>
                </a:lnTo>
                <a:cubicBezTo>
                  <a:pt x="221218" y="5318"/>
                  <a:pt x="208359" y="0"/>
                  <a:pt x="194866" y="0"/>
                </a:cubicBezTo>
                <a:lnTo>
                  <a:pt x="76200" y="0"/>
                </a:lnTo>
                <a:close/>
                <a:moveTo>
                  <a:pt x="283766" y="139700"/>
                </a:moveTo>
                <a:lnTo>
                  <a:pt x="209550" y="139700"/>
                </a:lnTo>
                <a:cubicBezTo>
                  <a:pt x="198993" y="139700"/>
                  <a:pt x="190500" y="131207"/>
                  <a:pt x="190500" y="120650"/>
                </a:cubicBezTo>
                <a:lnTo>
                  <a:pt x="190500" y="46434"/>
                </a:lnTo>
                <a:lnTo>
                  <a:pt x="283766" y="139700"/>
                </a:lnTo>
                <a:close/>
                <a:moveTo>
                  <a:pt x="353457" y="387747"/>
                </a:moveTo>
                <a:lnTo>
                  <a:pt x="342900" y="392748"/>
                </a:lnTo>
                <a:lnTo>
                  <a:pt x="342900" y="243443"/>
                </a:lnTo>
                <a:lnTo>
                  <a:pt x="419100" y="268843"/>
                </a:lnTo>
                <a:lnTo>
                  <a:pt x="419100" y="284401"/>
                </a:lnTo>
                <a:cubicBezTo>
                  <a:pt x="419100" y="328692"/>
                  <a:pt x="393541" y="368935"/>
                  <a:pt x="353457" y="387826"/>
                </a:cubicBezTo>
                <a:close/>
                <a:moveTo>
                  <a:pt x="334883" y="205978"/>
                </a:moveTo>
                <a:lnTo>
                  <a:pt x="245983" y="235585"/>
                </a:lnTo>
                <a:cubicBezTo>
                  <a:pt x="235585" y="239078"/>
                  <a:pt x="228600" y="248761"/>
                  <a:pt x="228600" y="259715"/>
                </a:cubicBezTo>
                <a:lnTo>
                  <a:pt x="228600" y="284401"/>
                </a:lnTo>
                <a:cubicBezTo>
                  <a:pt x="228600" y="343456"/>
                  <a:pt x="262731" y="397192"/>
                  <a:pt x="316071" y="422275"/>
                </a:cubicBezTo>
                <a:lnTo>
                  <a:pt x="330756" y="429181"/>
                </a:lnTo>
                <a:cubicBezTo>
                  <a:pt x="334566" y="430927"/>
                  <a:pt x="338693" y="431879"/>
                  <a:pt x="342821" y="431879"/>
                </a:cubicBezTo>
                <a:cubicBezTo>
                  <a:pt x="346948" y="431879"/>
                  <a:pt x="351155" y="430927"/>
                  <a:pt x="354886" y="429181"/>
                </a:cubicBezTo>
                <a:lnTo>
                  <a:pt x="369570" y="422275"/>
                </a:lnTo>
                <a:cubicBezTo>
                  <a:pt x="423069" y="397113"/>
                  <a:pt x="457200" y="343376"/>
                  <a:pt x="457200" y="284321"/>
                </a:cubicBezTo>
                <a:lnTo>
                  <a:pt x="457200" y="259636"/>
                </a:lnTo>
                <a:cubicBezTo>
                  <a:pt x="457200" y="248682"/>
                  <a:pt x="450215" y="238998"/>
                  <a:pt x="439817" y="235506"/>
                </a:cubicBezTo>
                <a:lnTo>
                  <a:pt x="350917" y="205899"/>
                </a:lnTo>
                <a:cubicBezTo>
                  <a:pt x="345678" y="204152"/>
                  <a:pt x="340043" y="204152"/>
                  <a:pt x="334883" y="205899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3098800"/>
            <a:ext cx="431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Module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34798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Insurance and health coverage management module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4826000"/>
            <a:ext cx="7112000" cy="228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" y="5143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01600" y="50800"/>
                </a:moveTo>
                <a:cubicBezTo>
                  <a:pt x="101600" y="22781"/>
                  <a:pt x="124381" y="0"/>
                  <a:pt x="152400" y="0"/>
                </a:cubicBezTo>
                <a:lnTo>
                  <a:pt x="304800" y="0"/>
                </a:lnTo>
                <a:cubicBezTo>
                  <a:pt x="332819" y="0"/>
                  <a:pt x="355600" y="22781"/>
                  <a:pt x="355600" y="50800"/>
                </a:cubicBezTo>
                <a:lnTo>
                  <a:pt x="355600" y="101600"/>
                </a:lnTo>
                <a:lnTo>
                  <a:pt x="406400" y="101600"/>
                </a:lnTo>
                <a:cubicBezTo>
                  <a:pt x="434419" y="101600"/>
                  <a:pt x="457200" y="124381"/>
                  <a:pt x="457200" y="152400"/>
                </a:cubicBezTo>
                <a:lnTo>
                  <a:pt x="457200" y="355600"/>
                </a:lnTo>
                <a:cubicBezTo>
                  <a:pt x="457200" y="383619"/>
                  <a:pt x="434419" y="406400"/>
                  <a:pt x="4064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52400"/>
                </a:lnTo>
                <a:cubicBezTo>
                  <a:pt x="0" y="124381"/>
                  <a:pt x="22781" y="101600"/>
                  <a:pt x="50800" y="101600"/>
                </a:cubicBezTo>
                <a:lnTo>
                  <a:pt x="101600" y="101600"/>
                </a:lnTo>
                <a:lnTo>
                  <a:pt x="101600" y="50800"/>
                </a:lnTo>
                <a:close/>
                <a:moveTo>
                  <a:pt x="215900" y="279400"/>
                </a:moveTo>
                <a:cubicBezTo>
                  <a:pt x="201851" y="279400"/>
                  <a:pt x="190500" y="290751"/>
                  <a:pt x="190500" y="304800"/>
                </a:cubicBezTo>
                <a:lnTo>
                  <a:pt x="190500" y="368300"/>
                </a:lnTo>
                <a:lnTo>
                  <a:pt x="266700" y="368300"/>
                </a:lnTo>
                <a:lnTo>
                  <a:pt x="266700" y="304800"/>
                </a:lnTo>
                <a:cubicBezTo>
                  <a:pt x="266700" y="290751"/>
                  <a:pt x="255349" y="279400"/>
                  <a:pt x="241300" y="279400"/>
                </a:cubicBezTo>
                <a:lnTo>
                  <a:pt x="215900" y="279400"/>
                </a:lnTo>
                <a:close/>
                <a:moveTo>
                  <a:pt x="101600" y="292100"/>
                </a:moveTo>
                <a:lnTo>
                  <a:pt x="101600" y="266700"/>
                </a:lnTo>
                <a:cubicBezTo>
                  <a:pt x="101600" y="259715"/>
                  <a:pt x="95885" y="254000"/>
                  <a:pt x="88900" y="254000"/>
                </a:cubicBezTo>
                <a:lnTo>
                  <a:pt x="63500" y="254000"/>
                </a:lnTo>
                <a:cubicBezTo>
                  <a:pt x="56515" y="254000"/>
                  <a:pt x="50800" y="259715"/>
                  <a:pt x="50800" y="266700"/>
                </a:cubicBezTo>
                <a:lnTo>
                  <a:pt x="50800" y="292100"/>
                </a:lnTo>
                <a:cubicBezTo>
                  <a:pt x="50800" y="299085"/>
                  <a:pt x="56515" y="304800"/>
                  <a:pt x="63500" y="304800"/>
                </a:cubicBezTo>
                <a:lnTo>
                  <a:pt x="88900" y="304800"/>
                </a:lnTo>
                <a:cubicBezTo>
                  <a:pt x="95885" y="304800"/>
                  <a:pt x="101600" y="299085"/>
                  <a:pt x="101600" y="292100"/>
                </a:cubicBezTo>
                <a:close/>
                <a:moveTo>
                  <a:pt x="88900" y="203200"/>
                </a:moveTo>
                <a:cubicBezTo>
                  <a:pt x="95885" y="203200"/>
                  <a:pt x="101600" y="197485"/>
                  <a:pt x="101600" y="190500"/>
                </a:cubicBezTo>
                <a:lnTo>
                  <a:pt x="101600" y="165100"/>
                </a:lnTo>
                <a:cubicBezTo>
                  <a:pt x="101600" y="15811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58115"/>
                  <a:pt x="50800" y="165100"/>
                </a:cubicBezTo>
                <a:lnTo>
                  <a:pt x="50800" y="190500"/>
                </a:lnTo>
                <a:cubicBezTo>
                  <a:pt x="50800" y="197485"/>
                  <a:pt x="56515" y="203200"/>
                  <a:pt x="63500" y="203200"/>
                </a:cubicBezTo>
                <a:lnTo>
                  <a:pt x="88900" y="203200"/>
                </a:lnTo>
                <a:close/>
                <a:moveTo>
                  <a:pt x="406400" y="292100"/>
                </a:moveTo>
                <a:lnTo>
                  <a:pt x="406400" y="266700"/>
                </a:lnTo>
                <a:cubicBezTo>
                  <a:pt x="406400" y="259715"/>
                  <a:pt x="400685" y="254000"/>
                  <a:pt x="393700" y="254000"/>
                </a:cubicBezTo>
                <a:lnTo>
                  <a:pt x="368300" y="254000"/>
                </a:lnTo>
                <a:cubicBezTo>
                  <a:pt x="361315" y="254000"/>
                  <a:pt x="355600" y="259715"/>
                  <a:pt x="355600" y="266700"/>
                </a:cubicBezTo>
                <a:lnTo>
                  <a:pt x="355600" y="292100"/>
                </a:lnTo>
                <a:cubicBezTo>
                  <a:pt x="355600" y="299085"/>
                  <a:pt x="361315" y="304800"/>
                  <a:pt x="368300" y="304800"/>
                </a:cubicBezTo>
                <a:lnTo>
                  <a:pt x="393700" y="304800"/>
                </a:lnTo>
                <a:cubicBezTo>
                  <a:pt x="400685" y="304800"/>
                  <a:pt x="406400" y="299085"/>
                  <a:pt x="406400" y="292100"/>
                </a:cubicBezTo>
                <a:close/>
                <a:moveTo>
                  <a:pt x="393700" y="203200"/>
                </a:moveTo>
                <a:cubicBezTo>
                  <a:pt x="400685" y="203200"/>
                  <a:pt x="406400" y="197485"/>
                  <a:pt x="406400" y="190500"/>
                </a:cubicBezTo>
                <a:lnTo>
                  <a:pt x="406400" y="165100"/>
                </a:lnTo>
                <a:cubicBezTo>
                  <a:pt x="406400" y="15811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58115"/>
                  <a:pt x="355600" y="165100"/>
                </a:cubicBezTo>
                <a:lnTo>
                  <a:pt x="355600" y="190500"/>
                </a:lnTo>
                <a:cubicBezTo>
                  <a:pt x="355600" y="197485"/>
                  <a:pt x="361315" y="203200"/>
                  <a:pt x="368300" y="203200"/>
                </a:cubicBezTo>
                <a:lnTo>
                  <a:pt x="393700" y="203200"/>
                </a:lnTo>
                <a:close/>
                <a:moveTo>
                  <a:pt x="209550" y="82550"/>
                </a:moveTo>
                <a:lnTo>
                  <a:pt x="209550" y="107950"/>
                </a:lnTo>
                <a:lnTo>
                  <a:pt x="184150" y="107950"/>
                </a:lnTo>
                <a:cubicBezTo>
                  <a:pt x="177165" y="107950"/>
                  <a:pt x="171450" y="113665"/>
                  <a:pt x="171450" y="120650"/>
                </a:cubicBezTo>
                <a:lnTo>
                  <a:pt x="171450" y="133350"/>
                </a:lnTo>
                <a:cubicBezTo>
                  <a:pt x="171450" y="140335"/>
                  <a:pt x="177165" y="146050"/>
                  <a:pt x="184150" y="146050"/>
                </a:cubicBezTo>
                <a:lnTo>
                  <a:pt x="209550" y="146050"/>
                </a:lnTo>
                <a:lnTo>
                  <a:pt x="209550" y="171450"/>
                </a:lnTo>
                <a:cubicBezTo>
                  <a:pt x="209550" y="178435"/>
                  <a:pt x="215265" y="184150"/>
                  <a:pt x="222250" y="184150"/>
                </a:cubicBezTo>
                <a:lnTo>
                  <a:pt x="234950" y="184150"/>
                </a:lnTo>
                <a:cubicBezTo>
                  <a:pt x="241935" y="184150"/>
                  <a:pt x="247650" y="178435"/>
                  <a:pt x="247650" y="171450"/>
                </a:cubicBezTo>
                <a:lnTo>
                  <a:pt x="247650" y="146050"/>
                </a:lnTo>
                <a:lnTo>
                  <a:pt x="273050" y="146050"/>
                </a:lnTo>
                <a:cubicBezTo>
                  <a:pt x="280035" y="146050"/>
                  <a:pt x="285750" y="140335"/>
                  <a:pt x="285750" y="133350"/>
                </a:cubicBezTo>
                <a:lnTo>
                  <a:pt x="285750" y="120650"/>
                </a:lnTo>
                <a:cubicBezTo>
                  <a:pt x="285750" y="113665"/>
                  <a:pt x="280035" y="107950"/>
                  <a:pt x="273050" y="107950"/>
                </a:cubicBezTo>
                <a:lnTo>
                  <a:pt x="247650" y="107950"/>
                </a:lnTo>
                <a:lnTo>
                  <a:pt x="247650" y="82550"/>
                </a:lnTo>
                <a:cubicBezTo>
                  <a:pt x="247650" y="75565"/>
                  <a:pt x="241935" y="69850"/>
                  <a:pt x="234950" y="69850"/>
                </a:cubicBezTo>
                <a:lnTo>
                  <a:pt x="222250" y="69850"/>
                </a:lnTo>
                <a:cubicBezTo>
                  <a:pt x="215265" y="69850"/>
                  <a:pt x="209550" y="75565"/>
                  <a:pt x="209550" y="825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7023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Multi-Hospital Network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6000" y="60833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Multi-hospital / multi-clinic network support for expanded healthcare coverage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0" y="4826000"/>
            <a:ext cx="7366000" cy="2286000"/>
          </a:xfrm>
          <a:prstGeom prst="roundRect">
            <a:avLst>
              <a:gd name="adj" fmla="val 8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2800" y="5143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52400" y="0"/>
                </a:moveTo>
                <a:cubicBezTo>
                  <a:pt x="110331" y="0"/>
                  <a:pt x="76200" y="34131"/>
                  <a:pt x="76200" y="76200"/>
                </a:cubicBezTo>
                <a:lnTo>
                  <a:pt x="76200" y="177800"/>
                </a:lnTo>
                <a:cubicBezTo>
                  <a:pt x="76200" y="219869"/>
                  <a:pt x="110331" y="254000"/>
                  <a:pt x="152400" y="254000"/>
                </a:cubicBezTo>
                <a:cubicBezTo>
                  <a:pt x="194469" y="254000"/>
                  <a:pt x="228600" y="219869"/>
                  <a:pt x="228600" y="177800"/>
                </a:cubicBezTo>
                <a:lnTo>
                  <a:pt x="228600" y="76200"/>
                </a:lnTo>
                <a:cubicBezTo>
                  <a:pt x="228600" y="34131"/>
                  <a:pt x="194469" y="0"/>
                  <a:pt x="152400" y="0"/>
                </a:cubicBezTo>
                <a:close/>
                <a:moveTo>
                  <a:pt x="38100" y="146050"/>
                </a:moveTo>
                <a:cubicBezTo>
                  <a:pt x="38100" y="135493"/>
                  <a:pt x="29607" y="127000"/>
                  <a:pt x="19050" y="127000"/>
                </a:cubicBezTo>
                <a:cubicBezTo>
                  <a:pt x="8493" y="127000"/>
                  <a:pt x="0" y="135493"/>
                  <a:pt x="0" y="146050"/>
                </a:cubicBezTo>
                <a:lnTo>
                  <a:pt x="0" y="177800"/>
                </a:lnTo>
                <a:cubicBezTo>
                  <a:pt x="0" y="255508"/>
                  <a:pt x="58182" y="319643"/>
                  <a:pt x="133350" y="329009"/>
                </a:cubicBezTo>
                <a:lnTo>
                  <a:pt x="13335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209550" y="406400"/>
                </a:lnTo>
                <a:cubicBezTo>
                  <a:pt x="220107" y="406400"/>
                  <a:pt x="228600" y="397907"/>
                  <a:pt x="228600" y="387350"/>
                </a:cubicBezTo>
                <a:cubicBezTo>
                  <a:pt x="228600" y="376793"/>
                  <a:pt x="220107" y="368300"/>
                  <a:pt x="209550" y="368300"/>
                </a:cubicBezTo>
                <a:lnTo>
                  <a:pt x="171450" y="368300"/>
                </a:lnTo>
                <a:lnTo>
                  <a:pt x="171450" y="329009"/>
                </a:lnTo>
                <a:cubicBezTo>
                  <a:pt x="246618" y="319643"/>
                  <a:pt x="304800" y="255508"/>
                  <a:pt x="304800" y="177800"/>
                </a:cubicBezTo>
                <a:lnTo>
                  <a:pt x="304800" y="146050"/>
                </a:lnTo>
                <a:cubicBezTo>
                  <a:pt x="304800" y="135493"/>
                  <a:pt x="296307" y="127000"/>
                  <a:pt x="285750" y="127000"/>
                </a:cubicBezTo>
                <a:cubicBezTo>
                  <a:pt x="275193" y="127000"/>
                  <a:pt x="266700" y="135493"/>
                  <a:pt x="266700" y="146050"/>
                </a:cubicBezTo>
                <a:lnTo>
                  <a:pt x="266700" y="177800"/>
                </a:lnTo>
                <a:cubicBezTo>
                  <a:pt x="266700" y="240903"/>
                  <a:pt x="215503" y="292100"/>
                  <a:pt x="152400" y="292100"/>
                </a:cubicBezTo>
                <a:cubicBezTo>
                  <a:pt x="89297" y="292100"/>
                  <a:pt x="38100" y="240903"/>
                  <a:pt x="38100" y="177800"/>
                </a:cubicBezTo>
                <a:lnTo>
                  <a:pt x="38100" y="1460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57023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Assistant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82000" y="60833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Voice assistant support for elderly and accessibility needs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gradFill rotWithShape="1" flip="none">
          <a:gsLst>
            <a:gs pos="0">
              <a:srgbClr val="0B0E1F"/>
            </a:gs>
            <a:gs pos="50000">
              <a:srgbClr val="13162B"/>
            </a:gs>
            <a:gs pos="100000">
              <a:srgbClr val="1A1D3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2D3EE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0B0E1F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000"/>
            <a:ext cx="16256000" cy="127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7894" y="16768"/>
                </a:moveTo>
                <a:cubicBezTo>
                  <a:pt x="60127" y="13742"/>
                  <a:pt x="63698" y="11906"/>
                  <a:pt x="67469" y="11906"/>
                </a:cubicBezTo>
                <a:lnTo>
                  <a:pt x="186531" y="11906"/>
                </a:lnTo>
                <a:cubicBezTo>
                  <a:pt x="190302" y="11906"/>
                  <a:pt x="193873" y="13692"/>
                  <a:pt x="196106" y="16768"/>
                </a:cubicBezTo>
                <a:lnTo>
                  <a:pt x="251668" y="92174"/>
                </a:lnTo>
                <a:cubicBezTo>
                  <a:pt x="255042" y="96738"/>
                  <a:pt x="254695" y="103039"/>
                  <a:pt x="250924" y="107255"/>
                </a:cubicBezTo>
                <a:lnTo>
                  <a:pt x="135830" y="234255"/>
                </a:lnTo>
                <a:cubicBezTo>
                  <a:pt x="133598" y="236736"/>
                  <a:pt x="130373" y="238175"/>
                  <a:pt x="127000" y="238175"/>
                </a:cubicBezTo>
                <a:cubicBezTo>
                  <a:pt x="123627" y="238175"/>
                  <a:pt x="120452" y="236736"/>
                  <a:pt x="118170" y="234255"/>
                </a:cubicBezTo>
                <a:lnTo>
                  <a:pt x="3076" y="107255"/>
                </a:lnTo>
                <a:cubicBezTo>
                  <a:pt x="-744" y="103039"/>
                  <a:pt x="-1042" y="96738"/>
                  <a:pt x="2332" y="92174"/>
                </a:cubicBezTo>
                <a:lnTo>
                  <a:pt x="57894" y="16768"/>
                </a:lnTo>
                <a:close/>
                <a:moveTo>
                  <a:pt x="76994" y="36513"/>
                </a:moveTo>
                <a:cubicBezTo>
                  <a:pt x="75357" y="37753"/>
                  <a:pt x="74910" y="39985"/>
                  <a:pt x="75952" y="41721"/>
                </a:cubicBezTo>
                <a:lnTo>
                  <a:pt x="104428" y="89198"/>
                </a:lnTo>
                <a:lnTo>
                  <a:pt x="31403" y="95250"/>
                </a:lnTo>
                <a:cubicBezTo>
                  <a:pt x="29369" y="95399"/>
                  <a:pt x="27781" y="97135"/>
                  <a:pt x="27781" y="99219"/>
                </a:cubicBezTo>
                <a:cubicBezTo>
                  <a:pt x="27781" y="101302"/>
                  <a:pt x="29369" y="102989"/>
                  <a:pt x="31403" y="103188"/>
                </a:cubicBezTo>
                <a:lnTo>
                  <a:pt x="126653" y="111125"/>
                </a:lnTo>
                <a:cubicBezTo>
                  <a:pt x="126851" y="111125"/>
                  <a:pt x="127099" y="111125"/>
                  <a:pt x="127298" y="111125"/>
                </a:cubicBezTo>
                <a:lnTo>
                  <a:pt x="222548" y="103188"/>
                </a:lnTo>
                <a:cubicBezTo>
                  <a:pt x="224582" y="103039"/>
                  <a:pt x="226169" y="101302"/>
                  <a:pt x="226169" y="99219"/>
                </a:cubicBezTo>
                <a:cubicBezTo>
                  <a:pt x="226169" y="97135"/>
                  <a:pt x="224582" y="95448"/>
                  <a:pt x="222548" y="95250"/>
                </a:cubicBezTo>
                <a:lnTo>
                  <a:pt x="149523" y="89148"/>
                </a:lnTo>
                <a:lnTo>
                  <a:pt x="177998" y="41721"/>
                </a:lnTo>
                <a:cubicBezTo>
                  <a:pt x="179040" y="39985"/>
                  <a:pt x="178594" y="37703"/>
                  <a:pt x="176957" y="36513"/>
                </a:cubicBezTo>
                <a:cubicBezTo>
                  <a:pt x="175320" y="35322"/>
                  <a:pt x="173038" y="35520"/>
                  <a:pt x="171648" y="37009"/>
                </a:cubicBezTo>
                <a:lnTo>
                  <a:pt x="127000" y="85427"/>
                </a:lnTo>
                <a:lnTo>
                  <a:pt x="82302" y="37009"/>
                </a:lnTo>
                <a:cubicBezTo>
                  <a:pt x="80913" y="35520"/>
                  <a:pt x="78631" y="35322"/>
                  <a:pt x="76994" y="36513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1778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2032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8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3048000"/>
            <a:ext cx="2540000" cy="50800"/>
          </a:xfrm>
          <a:prstGeom prst="rect">
            <a:avLst/>
          </a:prstGeom>
          <a:solidFill>
            <a:srgbClr val="22D3EE"/>
          </a:solidFill>
          <a:ln/>
          <a:effectLst>
            <a:outerShdw sx="100000" sy="100000" kx="0" ky="0" algn="bl" rotWithShape="0" blurRad="127000" dist="50800" dir="2700000">
              <a:srgbClr val="22d3ee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48000" y="3429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22D3E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شكراً لكم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53000" y="5461000"/>
            <a:ext cx="6350000" cy="1524000"/>
          </a:xfrm>
          <a:prstGeom prst="roundRect">
            <a:avLst>
              <a:gd name="adj" fmla="val 10000"/>
            </a:avLst>
          </a:prstGeom>
          <a:solidFill>
            <a:srgbClr val="13162B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61000" y="590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57785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 DASH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6223000"/>
            <a:ext cx="482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Online Medical 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3000" y="736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Future of Digital Healthcare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800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MediDash — Online Medical System</dc:title>
  <dc:subject>MediDash — Online Medical System</dc:subject>
  <dc:creator>Kimi</dc:creator>
  <cp:lastModifiedBy>Kimi</cp:lastModifiedBy>
  <cp:revision>1</cp:revision>
  <dcterms:created xsi:type="dcterms:W3CDTF">2026-06-04T15:21:55Z</dcterms:created>
  <dcterms:modified xsi:type="dcterms:W3CDTF">2026-06-04T15:21:55Z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{"Label":"MediDash — Online Medical System","ContentProducer":"001191110108MACG2KBH8F10000","ProduceID":"19e8a6af-45c2-8b1a-8000-0000b4ee25f2","ReservedCode1":"","ContentPropagator":"001191110108MACG2KBH8F20000","PropagateID":"19e8a6af-45c2-8b1a-8000-0000b4ee25f2","ReservedCode2":""}</vt:lpwstr>
  </property>
</Properties>
</file>